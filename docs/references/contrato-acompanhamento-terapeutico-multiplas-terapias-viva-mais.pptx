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6" r:id="rId10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 userDrawn="1">
          <p15:clr>
            <a:srgbClr val="A4A3A4"/>
          </p15:clr>
        </p15:guide>
        <p15:guide id="2" pos="1112" userDrawn="1">
          <p15:clr>
            <a:srgbClr val="A4A3A4"/>
          </p15:clr>
        </p15:guide>
        <p15:guide id="3" pos="4423" userDrawn="1">
          <p15:clr>
            <a:srgbClr val="A4A3A4"/>
          </p15:clr>
        </p15:guide>
        <p15:guide id="4" orient="horz" pos="6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E4B"/>
    <a:srgbClr val="EEFFE0"/>
    <a:srgbClr val="164CF7"/>
    <a:srgbClr val="0E3C5E"/>
    <a:srgbClr val="14527F"/>
    <a:srgbClr val="124B75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38"/>
    <p:restoredTop sz="94610"/>
  </p:normalViewPr>
  <p:slideViewPr>
    <p:cSldViewPr snapToGrid="0" snapToObjects="1">
      <p:cViewPr>
        <p:scale>
          <a:sx n="273" d="100"/>
          <a:sy n="273" d="100"/>
        </p:scale>
        <p:origin x="-472" y="-10392"/>
      </p:cViewPr>
      <p:guideLst>
        <p:guide orient="horz" pos="622"/>
        <p:guide pos="1112"/>
        <p:guide pos="4423"/>
        <p:guide orient="horz" pos="6247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34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500A49B-C789-04D1-E72B-A9A8EF825CD2}"/>
              </a:ext>
            </a:extLst>
          </p:cNvPr>
          <p:cNvGrpSpPr/>
          <p:nvPr/>
        </p:nvGrpSpPr>
        <p:grpSpPr>
          <a:xfrm>
            <a:off x="1761406" y="2476536"/>
            <a:ext cx="4040038" cy="5775674"/>
            <a:chOff x="1571626" y="2614614"/>
            <a:chExt cx="4040038" cy="5775674"/>
          </a:xfrm>
        </p:grpSpPr>
        <p:sp>
          <p:nvSpPr>
            <p:cNvPr id="28" name="Shape 0">
              <a:extLst>
                <a:ext uri="{FF2B5EF4-FFF2-40B4-BE49-F238E27FC236}">
                  <a16:creationId xmlns:a16="http://schemas.microsoft.com/office/drawing/2014/main" id="{490AFA9B-D6DD-8682-77BD-6991EEA1D696}"/>
                </a:ext>
              </a:extLst>
            </p:cNvPr>
            <p:cNvSpPr/>
            <p:nvPr/>
          </p:nvSpPr>
          <p:spPr>
            <a:xfrm>
              <a:off x="1571626" y="2614614"/>
              <a:ext cx="4040038" cy="5360556"/>
            </a:xfrm>
            <a:prstGeom prst="rect">
              <a:avLst/>
            </a:prstGeom>
            <a:noFill/>
            <a:ln w="6350">
              <a:solidFill>
                <a:srgbClr val="012E4B"/>
              </a:solidFill>
            </a:ln>
          </p:spPr>
          <p:txBody>
            <a:bodyPr/>
            <a:lstStyle/>
            <a:p>
              <a:endParaRPr lang="pt-BR" noProof="0" dirty="0"/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ACC4F14D-5148-791F-60E3-AE0939F99E41}"/>
                </a:ext>
              </a:extLst>
            </p:cNvPr>
            <p:cNvGrpSpPr/>
            <p:nvPr/>
          </p:nvGrpSpPr>
          <p:grpSpPr>
            <a:xfrm>
              <a:off x="2003144" y="4052186"/>
              <a:ext cx="2871651" cy="2584265"/>
              <a:chOff x="2606040" y="2545083"/>
              <a:chExt cx="2871651" cy="2584265"/>
            </a:xfrm>
          </p:grpSpPr>
          <p:pic>
            <p:nvPicPr>
              <p:cNvPr id="9" name="Image 1" descr="/tmp/vm/img/logo_color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6040" y="2545083"/>
                <a:ext cx="1175385" cy="462858"/>
              </a:xfrm>
              <a:prstGeom prst="rect">
                <a:avLst/>
              </a:prstGeom>
            </p:spPr>
          </p:pic>
          <p:sp>
            <p:nvSpPr>
              <p:cNvPr id="19" name="Text 15"/>
              <p:cNvSpPr/>
              <p:nvPr/>
            </p:nvSpPr>
            <p:spPr>
              <a:xfrm>
                <a:off x="2606040" y="3200400"/>
                <a:ext cx="2279469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pt-BR" sz="900" b="1" kern="0" spc="200" noProof="0" dirty="0">
                    <a:solidFill>
                      <a:srgbClr val="164CF7"/>
                    </a:solidFill>
                    <a:latin typeface="Montserrat" pitchFamily="2" charset="77"/>
                    <a:ea typeface="Calibri" pitchFamily="34" charset="-122"/>
                    <a:cs typeface="Calibri" pitchFamily="34" charset="-120"/>
                  </a:rPr>
                  <a:t>PRESTAÇÃO DE SERVIÇOS</a:t>
                </a:r>
                <a:endParaRPr lang="pt-BR" sz="900" noProof="0" dirty="0">
                  <a:latin typeface="Montserrat" pitchFamily="2" charset="77"/>
                </a:endParaRPr>
              </a:p>
            </p:txBody>
          </p:sp>
          <p:sp>
            <p:nvSpPr>
              <p:cNvPr id="20" name="Text 16"/>
              <p:cNvSpPr/>
              <p:nvPr/>
            </p:nvSpPr>
            <p:spPr>
              <a:xfrm>
                <a:off x="2606040" y="3529584"/>
                <a:ext cx="2871651" cy="8334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2200"/>
                  </a:lnSpc>
                  <a:buNone/>
                </a:pPr>
                <a:r>
                  <a:rPr lang="pt-BR" sz="2000" b="1" noProof="0" dirty="0">
                    <a:solidFill>
                      <a:srgbClr val="022E4B"/>
                    </a:solidFill>
                    <a:latin typeface="Montserrat" pitchFamily="2" charset="77"/>
                    <a:ea typeface="Calibri" pitchFamily="34" charset="-122"/>
                    <a:cs typeface="Calibri" pitchFamily="34" charset="-120"/>
                  </a:rPr>
                  <a:t>Contrato de Acompanhamento Terapêutico Contínuo</a:t>
                </a:r>
                <a:endParaRPr lang="pt-BR" sz="2000" noProof="0" dirty="0">
                  <a:latin typeface="Montserrat" pitchFamily="2" charset="77"/>
                </a:endParaRPr>
              </a:p>
            </p:txBody>
          </p:sp>
          <p:sp>
            <p:nvSpPr>
              <p:cNvPr id="21" name="Text 17"/>
              <p:cNvSpPr/>
              <p:nvPr/>
            </p:nvSpPr>
            <p:spPr>
              <a:xfrm>
                <a:off x="2606040" y="4454434"/>
                <a:ext cx="2279469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pt-BR" sz="1400" b="1" noProof="0" dirty="0">
                    <a:solidFill>
                      <a:srgbClr val="164CF7"/>
                    </a:solidFill>
                    <a:latin typeface="Montserrat" pitchFamily="2" charset="77"/>
                    <a:ea typeface="Calibri" pitchFamily="34" charset="-122"/>
                    <a:cs typeface="Calibri" pitchFamily="34" charset="-120"/>
                  </a:rPr>
                  <a:t>Múltiplas Terapias</a:t>
                </a:r>
                <a:endParaRPr lang="pt-BR" sz="1400" noProof="0" dirty="0">
                  <a:latin typeface="Montserrat" pitchFamily="2" charset="77"/>
                </a:endParaRPr>
              </a:p>
            </p:txBody>
          </p:sp>
          <p:sp>
            <p:nvSpPr>
              <p:cNvPr id="23" name="Shape 19"/>
              <p:cNvSpPr/>
              <p:nvPr/>
            </p:nvSpPr>
            <p:spPr>
              <a:xfrm>
                <a:off x="2606040" y="4812224"/>
                <a:ext cx="548640" cy="0"/>
              </a:xfrm>
              <a:prstGeom prst="line">
                <a:avLst/>
              </a:prstGeom>
              <a:noFill/>
              <a:ln w="27940">
                <a:solidFill>
                  <a:srgbClr val="3AD77E"/>
                </a:solidFill>
                <a:prstDash val="solid"/>
              </a:ln>
            </p:spPr>
            <p:txBody>
              <a:bodyPr/>
              <a:lstStyle/>
              <a:p>
                <a:endParaRPr lang="pt-BR" sz="1600" noProof="0" dirty="0">
                  <a:latin typeface="Montserrat" pitchFamily="2" charset="77"/>
                </a:endParaRPr>
              </a:p>
            </p:txBody>
          </p:sp>
          <p:sp>
            <p:nvSpPr>
              <p:cNvPr id="24" name="Text 20"/>
              <p:cNvSpPr/>
              <p:nvPr/>
            </p:nvSpPr>
            <p:spPr>
              <a:xfrm>
                <a:off x="2606040" y="4891604"/>
                <a:ext cx="2279469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pt-BR" sz="1000" b="1" kern="0" spc="200" noProof="0" dirty="0">
                    <a:solidFill>
                      <a:srgbClr val="214889"/>
                    </a:solidFill>
                    <a:latin typeface="Montserrat" pitchFamily="2" charset="77"/>
                    <a:ea typeface="Calibri" pitchFamily="34" charset="-122"/>
                    <a:cs typeface="Calibri" pitchFamily="34" charset="-120"/>
                  </a:rPr>
                  <a:t>ANO | 2026</a:t>
                </a:r>
                <a:endParaRPr lang="pt-BR" sz="1000" noProof="0" dirty="0">
                  <a:latin typeface="Montserrat" pitchFamily="2" charset="77"/>
                </a:endParaRPr>
              </a:p>
            </p:txBody>
          </p:sp>
        </p:grpSp>
        <p:sp>
          <p:nvSpPr>
            <p:cNvPr id="11" name="Shape 7"/>
            <p:cNvSpPr/>
            <p:nvPr/>
          </p:nvSpPr>
          <p:spPr>
            <a:xfrm>
              <a:off x="1571626" y="8067511"/>
              <a:ext cx="985540" cy="319642"/>
            </a:xfrm>
            <a:prstGeom prst="roundRect">
              <a:avLst>
                <a:gd name="adj" fmla="val 15385"/>
              </a:avLst>
            </a:prstGeom>
            <a:solidFill>
              <a:srgbClr val="0C3A5C"/>
            </a:solidFill>
            <a:ln/>
          </p:spPr>
          <p:txBody>
            <a:bodyPr/>
            <a:lstStyle/>
            <a:p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1588209" y="8147697"/>
              <a:ext cx="952914" cy="159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pt-BR" sz="800" noProof="0" dirty="0">
                  <a:solidFill>
                    <a:srgbClr val="FFFFFF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Neuropsicologia</a:t>
              </a:r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2589793" y="8067511"/>
              <a:ext cx="985540" cy="319642"/>
            </a:xfrm>
            <a:prstGeom prst="roundRect">
              <a:avLst>
                <a:gd name="adj" fmla="val 15385"/>
              </a:avLst>
            </a:prstGeom>
            <a:solidFill>
              <a:srgbClr val="0C3A5C"/>
            </a:solidFill>
            <a:ln/>
          </p:spPr>
          <p:txBody>
            <a:bodyPr/>
            <a:lstStyle/>
            <a:p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2622420" y="8163503"/>
              <a:ext cx="952914" cy="11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pt-BR" sz="800" noProof="0" dirty="0">
                  <a:solidFill>
                    <a:srgbClr val="FFFFFF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Psicologia</a:t>
              </a:r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5" name="Shape 11"/>
            <p:cNvSpPr/>
            <p:nvPr/>
          </p:nvSpPr>
          <p:spPr>
            <a:xfrm>
              <a:off x="3607959" y="8048901"/>
              <a:ext cx="985540" cy="337438"/>
            </a:xfrm>
            <a:prstGeom prst="roundRect">
              <a:avLst>
                <a:gd name="adj" fmla="val 15385"/>
              </a:avLst>
            </a:prstGeom>
            <a:solidFill>
              <a:srgbClr val="0C3A5C"/>
            </a:solidFill>
            <a:ln/>
          </p:spPr>
          <p:txBody>
            <a:bodyPr/>
            <a:lstStyle/>
            <a:p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3624541" y="8096987"/>
              <a:ext cx="952914" cy="240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pt-BR" sz="800" noProof="0" dirty="0">
                  <a:solidFill>
                    <a:srgbClr val="FFFFFF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Terapia Ocupacional</a:t>
              </a:r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7" name="Shape 13"/>
            <p:cNvSpPr/>
            <p:nvPr/>
          </p:nvSpPr>
          <p:spPr>
            <a:xfrm>
              <a:off x="4626124" y="8048932"/>
              <a:ext cx="985540" cy="341356"/>
            </a:xfrm>
            <a:prstGeom prst="roundRect">
              <a:avLst>
                <a:gd name="adj" fmla="val 15385"/>
              </a:avLst>
            </a:prstGeom>
            <a:solidFill>
              <a:srgbClr val="0C3A5C"/>
            </a:solidFill>
            <a:ln/>
          </p:spPr>
          <p:txBody>
            <a:bodyPr/>
            <a:lstStyle/>
            <a:p>
              <a:endParaRPr lang="pt-BR" sz="800" noProof="0" dirty="0">
                <a:latin typeface="Montserrat" pitchFamily="2" charset="77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4658750" y="8121930"/>
              <a:ext cx="952914" cy="1822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pt-BR" sz="800" noProof="0" dirty="0">
                  <a:solidFill>
                    <a:srgbClr val="FFFFFF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Fonoaudiologia</a:t>
              </a:r>
              <a:endParaRPr lang="pt-BR" sz="800" noProof="0" dirty="0">
                <a:latin typeface="Montserrat" pitchFamily="2" charset="7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358724AF-18E1-0275-BAA1-74D394F8E21B}"/>
              </a:ext>
            </a:extLst>
          </p:cNvPr>
          <p:cNvGrpSpPr/>
          <p:nvPr/>
        </p:nvGrpSpPr>
        <p:grpSpPr>
          <a:xfrm>
            <a:off x="1929765" y="2773738"/>
            <a:ext cx="3703320" cy="5141161"/>
            <a:chOff x="720725" y="1256814"/>
            <a:chExt cx="3703320" cy="5141161"/>
          </a:xfrm>
        </p:grpSpPr>
        <p:sp>
          <p:nvSpPr>
            <p:cNvPr id="3" name="Text 6">
              <a:extLst>
                <a:ext uri="{FF2B5EF4-FFF2-40B4-BE49-F238E27FC236}">
                  <a16:creationId xmlns:a16="http://schemas.microsoft.com/office/drawing/2014/main" id="{9EE1C1E2-6C4B-494B-F6DB-9A1437A2F8BF}"/>
                </a:ext>
              </a:extLst>
            </p:cNvPr>
            <p:cNvSpPr/>
            <p:nvPr/>
          </p:nvSpPr>
          <p:spPr>
            <a:xfrm>
              <a:off x="731520" y="1256814"/>
              <a:ext cx="369252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kern="0" spc="130" dirty="0">
                  <a:solidFill>
                    <a:srgbClr val="EEFF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ÍNDICE</a:t>
              </a:r>
              <a:endParaRPr lang="pt-BR" sz="1200" dirty="0">
                <a:solidFill>
                  <a:srgbClr val="EEFFE0"/>
                </a:solidFill>
              </a:endParaRPr>
            </a:p>
          </p:txBody>
        </p:sp>
        <p:sp>
          <p:nvSpPr>
            <p:cNvPr id="4" name="Text 7">
              <a:extLst>
                <a:ext uri="{FF2B5EF4-FFF2-40B4-BE49-F238E27FC236}">
                  <a16:creationId xmlns:a16="http://schemas.microsoft.com/office/drawing/2014/main" id="{AC625499-3985-7894-FB07-9CC2BA0E4BA8}"/>
                </a:ext>
              </a:extLst>
            </p:cNvPr>
            <p:cNvSpPr/>
            <p:nvPr/>
          </p:nvSpPr>
          <p:spPr>
            <a:xfrm>
              <a:off x="731520" y="1389888"/>
              <a:ext cx="369252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2400" b="1" dirty="0">
                  <a:solidFill>
                    <a:srgbClr val="ADF68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Sumário</a:t>
              </a:r>
              <a:endParaRPr lang="pt-BR" sz="2400" dirty="0">
                <a:solidFill>
                  <a:srgbClr val="ADF683"/>
                </a:solidFill>
              </a:endParaRPr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4B13D70B-5788-318A-DE8E-A61225A0309A}"/>
                </a:ext>
              </a:extLst>
            </p:cNvPr>
            <p:cNvSpPr/>
            <p:nvPr/>
          </p:nvSpPr>
          <p:spPr>
            <a:xfrm>
              <a:off x="720725" y="208200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Partes do contrato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17974305-E7F4-E0CF-A123-F600EDA4BF93}"/>
                </a:ext>
              </a:extLst>
            </p:cNvPr>
            <p:cNvSpPr/>
            <p:nvPr/>
          </p:nvSpPr>
          <p:spPr>
            <a:xfrm flipV="1">
              <a:off x="720725" y="2283175"/>
              <a:ext cx="3263219" cy="18288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1DD233DD-28A7-6975-C3A7-FBF351462FED}"/>
                </a:ext>
              </a:extLst>
            </p:cNvPr>
            <p:cNvSpPr/>
            <p:nvPr/>
          </p:nvSpPr>
          <p:spPr>
            <a:xfrm>
              <a:off x="3815276" y="208200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3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8" name="Text 13">
              <a:extLst>
                <a:ext uri="{FF2B5EF4-FFF2-40B4-BE49-F238E27FC236}">
                  <a16:creationId xmlns:a16="http://schemas.microsoft.com/office/drawing/2014/main" id="{7B9DCE2A-6172-4708-5E72-798329D25AA4}"/>
                </a:ext>
              </a:extLst>
            </p:cNvPr>
            <p:cNvSpPr/>
            <p:nvPr/>
          </p:nvSpPr>
          <p:spPr>
            <a:xfrm>
              <a:off x="720725" y="244776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Objeto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9" name="Shape 14">
              <a:extLst>
                <a:ext uri="{FF2B5EF4-FFF2-40B4-BE49-F238E27FC236}">
                  <a16:creationId xmlns:a16="http://schemas.microsoft.com/office/drawing/2014/main" id="{5969B66C-DA05-C2D7-9893-9230F840B78E}"/>
                </a:ext>
              </a:extLst>
            </p:cNvPr>
            <p:cNvSpPr/>
            <p:nvPr/>
          </p:nvSpPr>
          <p:spPr>
            <a:xfrm>
              <a:off x="720725" y="266722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0" name="Text 15">
              <a:extLst>
                <a:ext uri="{FF2B5EF4-FFF2-40B4-BE49-F238E27FC236}">
                  <a16:creationId xmlns:a16="http://schemas.microsoft.com/office/drawing/2014/main" id="{3A3ADB4D-3A1F-D972-FD28-44A0D169C7E8}"/>
                </a:ext>
              </a:extLst>
            </p:cNvPr>
            <p:cNvSpPr/>
            <p:nvPr/>
          </p:nvSpPr>
          <p:spPr>
            <a:xfrm>
              <a:off x="3815276" y="244776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3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836092FE-C216-1759-348B-8559329002D6}"/>
                </a:ext>
              </a:extLst>
            </p:cNvPr>
            <p:cNvSpPr/>
            <p:nvPr/>
          </p:nvSpPr>
          <p:spPr>
            <a:xfrm>
              <a:off x="720725" y="281352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Valor e formas de pagamento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7BA91EAF-9454-4052-C4C6-3132149C42AA}"/>
                </a:ext>
              </a:extLst>
            </p:cNvPr>
            <p:cNvSpPr/>
            <p:nvPr/>
          </p:nvSpPr>
          <p:spPr>
            <a:xfrm>
              <a:off x="720725" y="303298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3" name="Text 19">
              <a:extLst>
                <a:ext uri="{FF2B5EF4-FFF2-40B4-BE49-F238E27FC236}">
                  <a16:creationId xmlns:a16="http://schemas.microsoft.com/office/drawing/2014/main" id="{D0F123C9-F83C-4ECA-5651-F3A27829437E}"/>
                </a:ext>
              </a:extLst>
            </p:cNvPr>
            <p:cNvSpPr/>
            <p:nvPr/>
          </p:nvSpPr>
          <p:spPr>
            <a:xfrm>
              <a:off x="3815276" y="281352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4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8C707788-A3CF-87BD-CE98-E2DE34AC60B4}"/>
                </a:ext>
              </a:extLst>
            </p:cNvPr>
            <p:cNvSpPr/>
            <p:nvPr/>
          </p:nvSpPr>
          <p:spPr>
            <a:xfrm>
              <a:off x="720725" y="317928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Obrigações da Clínica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5" name="Shape 22">
              <a:extLst>
                <a:ext uri="{FF2B5EF4-FFF2-40B4-BE49-F238E27FC236}">
                  <a16:creationId xmlns:a16="http://schemas.microsoft.com/office/drawing/2014/main" id="{6F4697F6-4294-C3F1-58C9-598A33F1A1A9}"/>
                </a:ext>
              </a:extLst>
            </p:cNvPr>
            <p:cNvSpPr/>
            <p:nvPr/>
          </p:nvSpPr>
          <p:spPr>
            <a:xfrm>
              <a:off x="720725" y="3398743"/>
              <a:ext cx="3263219" cy="13530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6" name="Text 23">
              <a:extLst>
                <a:ext uri="{FF2B5EF4-FFF2-40B4-BE49-F238E27FC236}">
                  <a16:creationId xmlns:a16="http://schemas.microsoft.com/office/drawing/2014/main" id="{EDAB3F52-1ECC-5221-901E-C6F49EC9E22A}"/>
                </a:ext>
              </a:extLst>
            </p:cNvPr>
            <p:cNvSpPr/>
            <p:nvPr/>
          </p:nvSpPr>
          <p:spPr>
            <a:xfrm>
              <a:off x="3815276" y="317928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5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17" name="Text 25">
              <a:extLst>
                <a:ext uri="{FF2B5EF4-FFF2-40B4-BE49-F238E27FC236}">
                  <a16:creationId xmlns:a16="http://schemas.microsoft.com/office/drawing/2014/main" id="{A42F7D59-25CF-6509-09D9-1B999CDF7D68}"/>
                </a:ext>
              </a:extLst>
            </p:cNvPr>
            <p:cNvSpPr/>
            <p:nvPr/>
          </p:nvSpPr>
          <p:spPr>
            <a:xfrm>
              <a:off x="720725" y="354504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Obrigações da parte Contratante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8" name="Shape 26">
              <a:extLst>
                <a:ext uri="{FF2B5EF4-FFF2-40B4-BE49-F238E27FC236}">
                  <a16:creationId xmlns:a16="http://schemas.microsoft.com/office/drawing/2014/main" id="{457ABF90-CE57-E6BB-757C-7C390F1EADB4}"/>
                </a:ext>
              </a:extLst>
            </p:cNvPr>
            <p:cNvSpPr/>
            <p:nvPr/>
          </p:nvSpPr>
          <p:spPr>
            <a:xfrm>
              <a:off x="720725" y="376450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19" name="Text 27">
              <a:extLst>
                <a:ext uri="{FF2B5EF4-FFF2-40B4-BE49-F238E27FC236}">
                  <a16:creationId xmlns:a16="http://schemas.microsoft.com/office/drawing/2014/main" id="{023D116D-9D64-5DD0-0672-D0839235E38B}"/>
                </a:ext>
              </a:extLst>
            </p:cNvPr>
            <p:cNvSpPr/>
            <p:nvPr/>
          </p:nvSpPr>
          <p:spPr>
            <a:xfrm>
              <a:off x="3815276" y="354504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5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20" name="Text 29">
              <a:extLst>
                <a:ext uri="{FF2B5EF4-FFF2-40B4-BE49-F238E27FC236}">
                  <a16:creationId xmlns:a16="http://schemas.microsoft.com/office/drawing/2014/main" id="{D4B8BD03-B91B-E294-C715-D48A105C89A1}"/>
                </a:ext>
              </a:extLst>
            </p:cNvPr>
            <p:cNvSpPr/>
            <p:nvPr/>
          </p:nvSpPr>
          <p:spPr>
            <a:xfrm>
              <a:off x="720725" y="391080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Faltas, remarcações e horários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1" name="Shape 30">
              <a:extLst>
                <a:ext uri="{FF2B5EF4-FFF2-40B4-BE49-F238E27FC236}">
                  <a16:creationId xmlns:a16="http://schemas.microsoft.com/office/drawing/2014/main" id="{2F37571D-251C-4A8D-CEB8-2DC5D81BDB61}"/>
                </a:ext>
              </a:extLst>
            </p:cNvPr>
            <p:cNvSpPr/>
            <p:nvPr/>
          </p:nvSpPr>
          <p:spPr>
            <a:xfrm>
              <a:off x="720725" y="413026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2" name="Text 31">
              <a:extLst>
                <a:ext uri="{FF2B5EF4-FFF2-40B4-BE49-F238E27FC236}">
                  <a16:creationId xmlns:a16="http://schemas.microsoft.com/office/drawing/2014/main" id="{D85BFB12-A7D1-70DF-F88C-D8DDE2EFA8D8}"/>
                </a:ext>
              </a:extLst>
            </p:cNvPr>
            <p:cNvSpPr/>
            <p:nvPr/>
          </p:nvSpPr>
          <p:spPr>
            <a:xfrm>
              <a:off x="3815276" y="391080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6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23" name="Text 33">
              <a:extLst>
                <a:ext uri="{FF2B5EF4-FFF2-40B4-BE49-F238E27FC236}">
                  <a16:creationId xmlns:a16="http://schemas.microsoft.com/office/drawing/2014/main" id="{4D679F90-F4D1-E9E1-EE51-55A23B80ED46}"/>
                </a:ext>
              </a:extLst>
            </p:cNvPr>
            <p:cNvSpPr/>
            <p:nvPr/>
          </p:nvSpPr>
          <p:spPr>
            <a:xfrm>
              <a:off x="720725" y="427656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Sigilo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4" name="Shape 34">
              <a:extLst>
                <a:ext uri="{FF2B5EF4-FFF2-40B4-BE49-F238E27FC236}">
                  <a16:creationId xmlns:a16="http://schemas.microsoft.com/office/drawing/2014/main" id="{5DDBACDF-E9C7-4600-39A8-90238D636C6F}"/>
                </a:ext>
              </a:extLst>
            </p:cNvPr>
            <p:cNvSpPr/>
            <p:nvPr/>
          </p:nvSpPr>
          <p:spPr>
            <a:xfrm>
              <a:off x="720725" y="4496023"/>
              <a:ext cx="3263219" cy="9070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5" name="Text 35">
              <a:extLst>
                <a:ext uri="{FF2B5EF4-FFF2-40B4-BE49-F238E27FC236}">
                  <a16:creationId xmlns:a16="http://schemas.microsoft.com/office/drawing/2014/main" id="{24FDEB09-686C-6156-774A-9545BAF9B54D}"/>
                </a:ext>
              </a:extLst>
            </p:cNvPr>
            <p:cNvSpPr/>
            <p:nvPr/>
          </p:nvSpPr>
          <p:spPr>
            <a:xfrm>
              <a:off x="3815276" y="427656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7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26" name="Text 37">
              <a:extLst>
                <a:ext uri="{FF2B5EF4-FFF2-40B4-BE49-F238E27FC236}">
                  <a16:creationId xmlns:a16="http://schemas.microsoft.com/office/drawing/2014/main" id="{1F74F1FB-82C8-2C25-3F7D-08F4FAE335D4}"/>
                </a:ext>
              </a:extLst>
            </p:cNvPr>
            <p:cNvSpPr/>
            <p:nvPr/>
          </p:nvSpPr>
          <p:spPr>
            <a:xfrm>
              <a:off x="720725" y="464232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Vigência, rescisão e inadimplemento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7" name="Shape 38">
              <a:extLst>
                <a:ext uri="{FF2B5EF4-FFF2-40B4-BE49-F238E27FC236}">
                  <a16:creationId xmlns:a16="http://schemas.microsoft.com/office/drawing/2014/main" id="{5F963835-8CE5-21FF-79F7-2BFE469CE3E4}"/>
                </a:ext>
              </a:extLst>
            </p:cNvPr>
            <p:cNvSpPr/>
            <p:nvPr/>
          </p:nvSpPr>
          <p:spPr>
            <a:xfrm>
              <a:off x="720725" y="4861782"/>
              <a:ext cx="3263219" cy="7583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28" name="Text 39">
              <a:extLst>
                <a:ext uri="{FF2B5EF4-FFF2-40B4-BE49-F238E27FC236}">
                  <a16:creationId xmlns:a16="http://schemas.microsoft.com/office/drawing/2014/main" id="{9D11F510-4D8E-AE57-5E5A-F27184735DCE}"/>
                </a:ext>
              </a:extLst>
            </p:cNvPr>
            <p:cNvSpPr/>
            <p:nvPr/>
          </p:nvSpPr>
          <p:spPr>
            <a:xfrm>
              <a:off x="3815276" y="464232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7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29" name="Text 41">
              <a:extLst>
                <a:ext uri="{FF2B5EF4-FFF2-40B4-BE49-F238E27FC236}">
                  <a16:creationId xmlns:a16="http://schemas.microsoft.com/office/drawing/2014/main" id="{CC8C2151-9588-57D5-8498-BBB750D89CFB}"/>
                </a:ext>
              </a:extLst>
            </p:cNvPr>
            <p:cNvSpPr/>
            <p:nvPr/>
          </p:nvSpPr>
          <p:spPr>
            <a:xfrm>
              <a:off x="720725" y="500808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Cancelamentos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0" name="Shape 42">
              <a:extLst>
                <a:ext uri="{FF2B5EF4-FFF2-40B4-BE49-F238E27FC236}">
                  <a16:creationId xmlns:a16="http://schemas.microsoft.com/office/drawing/2014/main" id="{8CE2C495-8D63-BC50-9F57-771FDC85C483}"/>
                </a:ext>
              </a:extLst>
            </p:cNvPr>
            <p:cNvSpPr/>
            <p:nvPr/>
          </p:nvSpPr>
          <p:spPr>
            <a:xfrm>
              <a:off x="720725" y="522754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1" name="Text 43">
              <a:extLst>
                <a:ext uri="{FF2B5EF4-FFF2-40B4-BE49-F238E27FC236}">
                  <a16:creationId xmlns:a16="http://schemas.microsoft.com/office/drawing/2014/main" id="{1F0E9381-F1FF-A4C3-F0B4-D8889BB799DF}"/>
                </a:ext>
              </a:extLst>
            </p:cNvPr>
            <p:cNvSpPr/>
            <p:nvPr/>
          </p:nvSpPr>
          <p:spPr>
            <a:xfrm>
              <a:off x="3815276" y="500808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8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32" name="Text 45">
              <a:extLst>
                <a:ext uri="{FF2B5EF4-FFF2-40B4-BE49-F238E27FC236}">
                  <a16:creationId xmlns:a16="http://schemas.microsoft.com/office/drawing/2014/main" id="{FEBE36BB-2C4B-A96B-52DF-D4EA6CACB25F}"/>
                </a:ext>
              </a:extLst>
            </p:cNvPr>
            <p:cNvSpPr/>
            <p:nvPr/>
          </p:nvSpPr>
          <p:spPr>
            <a:xfrm>
              <a:off x="720725" y="537384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Proteção de dados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3" name="Shape 46">
              <a:extLst>
                <a:ext uri="{FF2B5EF4-FFF2-40B4-BE49-F238E27FC236}">
                  <a16:creationId xmlns:a16="http://schemas.microsoft.com/office/drawing/2014/main" id="{E0C88CBA-0786-71F7-4953-6DD174372DBE}"/>
                </a:ext>
              </a:extLst>
            </p:cNvPr>
            <p:cNvSpPr/>
            <p:nvPr/>
          </p:nvSpPr>
          <p:spPr>
            <a:xfrm>
              <a:off x="720725" y="559330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4" name="Text 47">
              <a:extLst>
                <a:ext uri="{FF2B5EF4-FFF2-40B4-BE49-F238E27FC236}">
                  <a16:creationId xmlns:a16="http://schemas.microsoft.com/office/drawing/2014/main" id="{2347D2B3-3751-8278-3DE3-B4FD97277217}"/>
                </a:ext>
              </a:extLst>
            </p:cNvPr>
            <p:cNvSpPr/>
            <p:nvPr/>
          </p:nvSpPr>
          <p:spPr>
            <a:xfrm>
              <a:off x="3815276" y="537384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8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35" name="Text 49">
              <a:extLst>
                <a:ext uri="{FF2B5EF4-FFF2-40B4-BE49-F238E27FC236}">
                  <a16:creationId xmlns:a16="http://schemas.microsoft.com/office/drawing/2014/main" id="{476F9D54-DF73-E24A-0135-0EDE1261011F}"/>
                </a:ext>
              </a:extLst>
            </p:cNvPr>
            <p:cNvSpPr/>
            <p:nvPr/>
          </p:nvSpPr>
          <p:spPr>
            <a:xfrm>
              <a:off x="720725" y="573960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Disposições gerais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6" name="Shape 50">
              <a:extLst>
                <a:ext uri="{FF2B5EF4-FFF2-40B4-BE49-F238E27FC236}">
                  <a16:creationId xmlns:a16="http://schemas.microsoft.com/office/drawing/2014/main" id="{5A9186A0-F737-9651-8D24-9B41BB42B5DB}"/>
                </a:ext>
              </a:extLst>
            </p:cNvPr>
            <p:cNvSpPr/>
            <p:nvPr/>
          </p:nvSpPr>
          <p:spPr>
            <a:xfrm>
              <a:off x="720725" y="5959062"/>
              <a:ext cx="3263219" cy="18288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7" name="Text 51">
              <a:extLst>
                <a:ext uri="{FF2B5EF4-FFF2-40B4-BE49-F238E27FC236}">
                  <a16:creationId xmlns:a16="http://schemas.microsoft.com/office/drawing/2014/main" id="{229CBA60-89DD-F8BF-293B-814A11AEB0DF}"/>
                </a:ext>
              </a:extLst>
            </p:cNvPr>
            <p:cNvSpPr/>
            <p:nvPr/>
          </p:nvSpPr>
          <p:spPr>
            <a:xfrm>
              <a:off x="3815276" y="573960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9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  <p:sp>
          <p:nvSpPr>
            <p:cNvPr id="38" name="Text 53">
              <a:extLst>
                <a:ext uri="{FF2B5EF4-FFF2-40B4-BE49-F238E27FC236}">
                  <a16:creationId xmlns:a16="http://schemas.microsoft.com/office/drawing/2014/main" id="{48894075-9AB5-479B-D9F1-E68A6E3897A2}"/>
                </a:ext>
              </a:extLst>
            </p:cNvPr>
            <p:cNvSpPr/>
            <p:nvPr/>
          </p:nvSpPr>
          <p:spPr>
            <a:xfrm>
              <a:off x="720725" y="6105367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100" dirty="0">
                  <a:solidFill>
                    <a:srgbClr val="F6F6F6"/>
                  </a:solidFill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Foro e assinaturas</a:t>
              </a:r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39" name="Shape 54">
              <a:extLst>
                <a:ext uri="{FF2B5EF4-FFF2-40B4-BE49-F238E27FC236}">
                  <a16:creationId xmlns:a16="http://schemas.microsoft.com/office/drawing/2014/main" id="{E8764EF7-CD8C-9A28-21D0-D4FFBC5F2275}"/>
                </a:ext>
              </a:extLst>
            </p:cNvPr>
            <p:cNvSpPr/>
            <p:nvPr/>
          </p:nvSpPr>
          <p:spPr>
            <a:xfrm>
              <a:off x="720725" y="6324823"/>
              <a:ext cx="3263219" cy="9144"/>
            </a:xfrm>
            <a:prstGeom prst="line">
              <a:avLst/>
            </a:prstGeom>
            <a:noFill/>
            <a:ln w="9525">
              <a:solidFill>
                <a:srgbClr val="DFE3E8"/>
              </a:solidFill>
              <a:prstDash val="sysDot"/>
            </a:ln>
          </p:spPr>
          <p:txBody>
            <a:bodyPr/>
            <a:lstStyle/>
            <a:p>
              <a:endParaRPr lang="pt-BR" sz="1100" dirty="0">
                <a:solidFill>
                  <a:srgbClr val="F6F6F6"/>
                </a:solidFill>
                <a:latin typeface="Montserrat" pitchFamily="2" charset="77"/>
              </a:endParaRPr>
            </a:p>
          </p:txBody>
        </p:sp>
        <p:sp>
          <p:nvSpPr>
            <p:cNvPr id="40" name="Text 55">
              <a:extLst>
                <a:ext uri="{FF2B5EF4-FFF2-40B4-BE49-F238E27FC236}">
                  <a16:creationId xmlns:a16="http://schemas.microsoft.com/office/drawing/2014/main" id="{AB72AC51-EF37-00A6-FDC6-85B04F08A4AC}"/>
                </a:ext>
              </a:extLst>
            </p:cNvPr>
            <p:cNvSpPr/>
            <p:nvPr/>
          </p:nvSpPr>
          <p:spPr>
            <a:xfrm>
              <a:off x="3815276" y="6105367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pt-BR" sz="1100" b="1" dirty="0">
                  <a:solidFill>
                    <a:srgbClr val="EEFFE0"/>
                  </a:solidFill>
                  <a:latin typeface="Montserrat" pitchFamily="2" charset="77"/>
                  <a:cs typeface="Calibri" pitchFamily="34" charset="-120"/>
                </a:rPr>
                <a:t>9</a:t>
              </a:r>
              <a:endParaRPr lang="pt-BR" sz="1100" dirty="0">
                <a:solidFill>
                  <a:srgbClr val="EEFFE0"/>
                </a:solidFill>
                <a:latin typeface="Montserrat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79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2CE23A99-EEBD-64D9-FF3A-9716C82CD082}"/>
              </a:ext>
            </a:extLst>
          </p:cNvPr>
          <p:cNvSpPr/>
          <p:nvPr/>
        </p:nvSpPr>
        <p:spPr>
          <a:xfrm>
            <a:off x="1" y="0"/>
            <a:ext cx="1343814" cy="10689336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/tmp/vm/img/logo_color.png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03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782578" y="9966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1782578" y="996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62300" y="1001737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Contrato.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82578" y="1709928"/>
            <a:ext cx="5227452" cy="515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E3C5E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 partes têm justo e acordado a prestação de serviços terapêuticos de acompanhamento contínuo, em múltiplas áreas, mediante as cláusulas e condições seguintes.</a:t>
            </a:r>
            <a:endParaRPr lang="pt-BR" sz="1100" noProof="0" dirty="0">
              <a:solidFill>
                <a:srgbClr val="0E3C5E"/>
              </a:solidFill>
              <a:latin typeface="Montserrat" pitchFamily="2" charset="77"/>
            </a:endParaRP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EB011FDE-C0E0-18D9-27DE-2CA75224CED5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CB5C1D5-66F0-A072-88C7-70B746BA00ED}"/>
              </a:ext>
            </a:extLst>
          </p:cNvPr>
          <p:cNvSpPr/>
          <p:nvPr/>
        </p:nvSpPr>
        <p:spPr>
          <a:xfrm>
            <a:off x="137159" y="1296507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4FFA9C01-E68B-984F-5177-DD4A43DCB186}"/>
              </a:ext>
            </a:extLst>
          </p:cNvPr>
          <p:cNvSpPr/>
          <p:nvPr/>
        </p:nvSpPr>
        <p:spPr>
          <a:xfrm>
            <a:off x="221168" y="1417320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E1366DF-07F9-C8CD-6437-081888E0AE45}"/>
              </a:ext>
            </a:extLst>
          </p:cNvPr>
          <p:cNvSpPr/>
          <p:nvPr/>
        </p:nvSpPr>
        <p:spPr>
          <a:xfrm>
            <a:off x="22116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9827AE5D-58CF-5985-8C74-75351961F553}"/>
              </a:ext>
            </a:extLst>
          </p:cNvPr>
          <p:cNvSpPr/>
          <p:nvPr/>
        </p:nvSpPr>
        <p:spPr>
          <a:xfrm>
            <a:off x="660080" y="1298448"/>
            <a:ext cx="74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4DED378A-86AC-436D-BA48-478FFA800DDC}"/>
              </a:ext>
            </a:extLst>
          </p:cNvPr>
          <p:cNvSpPr/>
          <p:nvPr/>
        </p:nvSpPr>
        <p:spPr>
          <a:xfrm>
            <a:off x="137160" y="265295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A4602E20-A246-2239-0C40-E8D7AA678D87}"/>
              </a:ext>
            </a:extLst>
          </p:cNvPr>
          <p:cNvSpPr/>
          <p:nvPr/>
        </p:nvSpPr>
        <p:spPr>
          <a:xfrm>
            <a:off x="137160" y="2652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80A5F775-F993-E917-2CBB-1A99E7E671AB}"/>
              </a:ext>
            </a:extLst>
          </p:cNvPr>
          <p:cNvSpPr/>
          <p:nvPr/>
        </p:nvSpPr>
        <p:spPr>
          <a:xfrm>
            <a:off x="512766" y="253408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Valores e forma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94522F4-E195-D51C-D11A-2E88A45E58CD}"/>
              </a:ext>
            </a:extLst>
          </p:cNvPr>
          <p:cNvSpPr/>
          <p:nvPr/>
        </p:nvSpPr>
        <p:spPr>
          <a:xfrm>
            <a:off x="137160" y="320956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8FC642EE-158F-BA0F-144C-B8833238ECD6}"/>
              </a:ext>
            </a:extLst>
          </p:cNvPr>
          <p:cNvSpPr/>
          <p:nvPr/>
        </p:nvSpPr>
        <p:spPr>
          <a:xfrm>
            <a:off x="137160" y="32095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6E84A38E-B359-68F6-9B7A-BC73B358824C}"/>
              </a:ext>
            </a:extLst>
          </p:cNvPr>
          <p:cNvSpPr/>
          <p:nvPr/>
        </p:nvSpPr>
        <p:spPr>
          <a:xfrm>
            <a:off x="512766" y="309069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525D62F3-946A-3007-77A1-9AB6E8038478}"/>
              </a:ext>
            </a:extLst>
          </p:cNvPr>
          <p:cNvSpPr/>
          <p:nvPr/>
        </p:nvSpPr>
        <p:spPr>
          <a:xfrm>
            <a:off x="137160" y="376617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561DCD66-302F-C0EE-18A3-6F4EC310C23B}"/>
              </a:ext>
            </a:extLst>
          </p:cNvPr>
          <p:cNvSpPr/>
          <p:nvPr/>
        </p:nvSpPr>
        <p:spPr>
          <a:xfrm>
            <a:off x="137160" y="3766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766920A4-1A10-6B8A-DB07-9A889A5D6B06}"/>
              </a:ext>
            </a:extLst>
          </p:cNvPr>
          <p:cNvSpPr/>
          <p:nvPr/>
        </p:nvSpPr>
        <p:spPr>
          <a:xfrm>
            <a:off x="512766" y="364730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DCFC7C43-B90E-6043-204C-6E5CBF855A59}"/>
              </a:ext>
            </a:extLst>
          </p:cNvPr>
          <p:cNvSpPr/>
          <p:nvPr/>
        </p:nvSpPr>
        <p:spPr>
          <a:xfrm>
            <a:off x="137160" y="4322788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DF0D1273-5CF6-9A12-FDA9-FC57EE9D9597}"/>
              </a:ext>
            </a:extLst>
          </p:cNvPr>
          <p:cNvSpPr/>
          <p:nvPr/>
        </p:nvSpPr>
        <p:spPr>
          <a:xfrm>
            <a:off x="137160" y="4322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1AA6D7A5-6C5E-22EB-A0D0-EF162FD60EBA}"/>
              </a:ext>
            </a:extLst>
          </p:cNvPr>
          <p:cNvSpPr/>
          <p:nvPr/>
        </p:nvSpPr>
        <p:spPr>
          <a:xfrm>
            <a:off x="512766" y="4203916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4603F6F5-5718-55F2-67E4-D03BDD6EAA24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592244FB-29FD-730E-6FBF-6B1F2452CE2C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64535505-102E-97FC-5472-B06813002F4F}"/>
              </a:ext>
            </a:extLst>
          </p:cNvPr>
          <p:cNvSpPr/>
          <p:nvPr/>
        </p:nvSpPr>
        <p:spPr>
          <a:xfrm>
            <a:off x="512766" y="4760528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6511E31E-37EF-5FED-D185-4138F8440EFA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FB51E636-9BEA-A5BF-99DC-7E9F068FE50E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95C8D405-B4AD-88CE-68F7-45B9187A153C}"/>
              </a:ext>
            </a:extLst>
          </p:cNvPr>
          <p:cNvSpPr/>
          <p:nvPr/>
        </p:nvSpPr>
        <p:spPr>
          <a:xfrm>
            <a:off x="512766" y="531714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19C838DA-EB40-1E51-B987-D0FB545A4F97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EFE18D16-6781-99EF-41E4-A6B8842D8506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D3733EFD-F929-60AB-74C2-B49482A37F39}"/>
              </a:ext>
            </a:extLst>
          </p:cNvPr>
          <p:cNvSpPr/>
          <p:nvPr/>
        </p:nvSpPr>
        <p:spPr>
          <a:xfrm>
            <a:off x="512766" y="5862029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9987F110-F650-6CAD-CF11-8C945F348165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2C6C1DB-D592-397A-F360-DD6FDC843485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04AFD163-1AA4-A841-5F8D-9AFEC30AD600}"/>
              </a:ext>
            </a:extLst>
          </p:cNvPr>
          <p:cNvSpPr/>
          <p:nvPr/>
        </p:nvSpPr>
        <p:spPr>
          <a:xfrm>
            <a:off x="512766" y="6418641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7" name="Shape 33">
            <a:extLst>
              <a:ext uri="{FF2B5EF4-FFF2-40B4-BE49-F238E27FC236}">
                <a16:creationId xmlns:a16="http://schemas.microsoft.com/office/drawing/2014/main" id="{580863D9-34AD-DCC8-B3AB-8ACB1091C860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85EDBD2E-BD30-F7BA-C81B-E8B0A63461C3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593D3AD2-5183-9254-12D8-63DAE5BCD771}"/>
              </a:ext>
            </a:extLst>
          </p:cNvPr>
          <p:cNvSpPr/>
          <p:nvPr/>
        </p:nvSpPr>
        <p:spPr>
          <a:xfrm>
            <a:off x="512766" y="697525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BC0298D3-FD7F-7171-C8A1-B977DE9F68A4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617A6CFA-CEE9-9609-F9B4-1DA87BFCD692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2" name="Text 38">
            <a:extLst>
              <a:ext uri="{FF2B5EF4-FFF2-40B4-BE49-F238E27FC236}">
                <a16:creationId xmlns:a16="http://schemas.microsoft.com/office/drawing/2014/main" id="{C13A70D1-9411-9587-1888-2743D8DF5D3F}"/>
              </a:ext>
            </a:extLst>
          </p:cNvPr>
          <p:cNvSpPr/>
          <p:nvPr/>
        </p:nvSpPr>
        <p:spPr>
          <a:xfrm>
            <a:off x="512766" y="753186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00BA1ECD-5C48-E98B-D8F3-F7423E51B05F}"/>
              </a:ext>
            </a:extLst>
          </p:cNvPr>
          <p:cNvSpPr/>
          <p:nvPr/>
        </p:nvSpPr>
        <p:spPr>
          <a:xfrm>
            <a:off x="1765300" y="2579382"/>
            <a:ext cx="5257157" cy="1462466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D855068B-4AAA-6DC9-E7A1-DB202190C1E6}"/>
              </a:ext>
            </a:extLst>
          </p:cNvPr>
          <p:cNvSpPr/>
          <p:nvPr/>
        </p:nvSpPr>
        <p:spPr>
          <a:xfrm>
            <a:off x="1894578" y="2680284"/>
            <a:ext cx="4766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4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 (OU RESPONSÁVEL LEGAL)</a:t>
            </a:r>
            <a:endParaRPr lang="pt-BR" sz="1200" spc="4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C573125A-9202-F0C9-5C83-CA93A52859F9}"/>
              </a:ext>
            </a:extLst>
          </p:cNvPr>
          <p:cNvSpPr/>
          <p:nvPr/>
        </p:nvSpPr>
        <p:spPr>
          <a:xfrm>
            <a:off x="1894578" y="2991180"/>
            <a:ext cx="51269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Nome: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CPF n.º XXX.XXX.XXX-XX, RG: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xxxxxxx</a:t>
            </a:r>
            <a:b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</a:b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Endereço: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xxxxxxxxxxxxxx</a:t>
            </a:r>
            <a:b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</a:b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CEP XXXXX-XXX, [Cidade/UF]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telefone: (XX) XXXXX-XXXX, e-mail: [e-mail completo].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76" name="Shape 12">
            <a:extLst>
              <a:ext uri="{FF2B5EF4-FFF2-40B4-BE49-F238E27FC236}">
                <a16:creationId xmlns:a16="http://schemas.microsoft.com/office/drawing/2014/main" id="{19DE2366-94F4-358B-3605-9168B41D39E8}"/>
              </a:ext>
            </a:extLst>
          </p:cNvPr>
          <p:cNvSpPr/>
          <p:nvPr/>
        </p:nvSpPr>
        <p:spPr>
          <a:xfrm>
            <a:off x="1754505" y="4272911"/>
            <a:ext cx="5257157" cy="966705"/>
          </a:xfrm>
          <a:prstGeom prst="roundRect">
            <a:avLst>
              <a:gd name="adj" fmla="val 5707"/>
            </a:avLst>
          </a:prstGeom>
          <a:solidFill>
            <a:srgbClr val="EEFFE0"/>
          </a:solidFill>
          <a:ln w="9525">
            <a:solidFill>
              <a:srgbClr val="9BD9AE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F746F293-94C0-B09C-A6BC-53C757A704C3}"/>
              </a:ext>
            </a:extLst>
          </p:cNvPr>
          <p:cNvSpPr/>
          <p:nvPr/>
        </p:nvSpPr>
        <p:spPr>
          <a:xfrm>
            <a:off x="1894578" y="4428196"/>
            <a:ext cx="4766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40" noProof="0" dirty="0">
                <a:solidFill>
                  <a:srgbClr val="214889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DADOS DO PACIENTE (SE FOR MENOR DE IDADE)</a:t>
            </a:r>
            <a:endParaRPr lang="pt-BR" sz="1200" spc="40" noProof="0" dirty="0">
              <a:latin typeface="Montserrat" pitchFamily="2" charset="77"/>
            </a:endParaRPr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5E241EC2-A5AD-DA56-D514-F6936C91F3A6}"/>
              </a:ext>
            </a:extLst>
          </p:cNvPr>
          <p:cNvSpPr/>
          <p:nvPr/>
        </p:nvSpPr>
        <p:spPr>
          <a:xfrm>
            <a:off x="1894578" y="4690232"/>
            <a:ext cx="5126935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[Nome do(a) Paciente:</a:t>
            </a:r>
            <a:b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</a:b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CPF n.º XXX.XXX.XXX-XX, representado(a) pelo(a) Contratante acima qualificado(a).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DE799A86-B1FF-4E12-5787-4EE4F2E406FB}"/>
              </a:ext>
            </a:extLst>
          </p:cNvPr>
          <p:cNvSpPr/>
          <p:nvPr/>
        </p:nvSpPr>
        <p:spPr>
          <a:xfrm>
            <a:off x="1742947" y="5470679"/>
            <a:ext cx="5267083" cy="1687359"/>
          </a:xfrm>
          <a:prstGeom prst="roundRect">
            <a:avLst>
              <a:gd name="adj" fmla="val 4183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E855B2C9-6733-9E89-DF97-62F2746C1FFC}"/>
              </a:ext>
            </a:extLst>
          </p:cNvPr>
          <p:cNvSpPr/>
          <p:nvPr/>
        </p:nvSpPr>
        <p:spPr>
          <a:xfrm>
            <a:off x="1894578" y="5629529"/>
            <a:ext cx="4766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4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CONTRATADA (NOSSA EQUIPE)</a:t>
            </a:r>
            <a:endParaRPr lang="pt-BR" sz="1200" spc="4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70975C73-2865-8381-707B-D699654662D2}"/>
              </a:ext>
            </a:extLst>
          </p:cNvPr>
          <p:cNvSpPr/>
          <p:nvPr/>
        </p:nvSpPr>
        <p:spPr>
          <a:xfrm>
            <a:off x="1894578" y="5919485"/>
            <a:ext cx="5126935" cy="1101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2000"/>
              </a:lnSpc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CLÍNICA VIVA+, inscrita no CNPJ 53.661.029/0001-80 com sede na Tv. Lomas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Valentinas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2034, sala 04, Marco, Belém/PA, CEP: 66.093-671, neste ato representada por Cláudio Augusto Minas da Silva, CPF: 516.268.702-25, com endereço profissional acima, e-mail: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diretoria@vivamaisclinica.com.br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2" name="Shape 2">
            <a:extLst>
              <a:ext uri="{FF2B5EF4-FFF2-40B4-BE49-F238E27FC236}">
                <a16:creationId xmlns:a16="http://schemas.microsoft.com/office/drawing/2014/main" id="{0DEE1C09-B5E0-9329-E32D-93F995722AF1}"/>
              </a:ext>
            </a:extLst>
          </p:cNvPr>
          <p:cNvSpPr/>
          <p:nvPr/>
        </p:nvSpPr>
        <p:spPr>
          <a:xfrm>
            <a:off x="137159" y="1916448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67E2CC91-6FB8-9F93-30AD-5EEE2D09AD57}"/>
              </a:ext>
            </a:extLst>
          </p:cNvPr>
          <p:cNvSpPr/>
          <p:nvPr/>
        </p:nvSpPr>
        <p:spPr>
          <a:xfrm>
            <a:off x="221168" y="2037261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762329A7-965B-AB16-33EB-F090AF3DA67A}"/>
              </a:ext>
            </a:extLst>
          </p:cNvPr>
          <p:cNvSpPr/>
          <p:nvPr/>
        </p:nvSpPr>
        <p:spPr>
          <a:xfrm>
            <a:off x="221168" y="20372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85" name="Text 5">
            <a:extLst>
              <a:ext uri="{FF2B5EF4-FFF2-40B4-BE49-F238E27FC236}">
                <a16:creationId xmlns:a16="http://schemas.microsoft.com/office/drawing/2014/main" id="{18113697-8AAA-2C11-22EF-34D5BA2001C0}"/>
              </a:ext>
            </a:extLst>
          </p:cNvPr>
          <p:cNvSpPr/>
          <p:nvPr/>
        </p:nvSpPr>
        <p:spPr>
          <a:xfrm>
            <a:off x="660080" y="1918389"/>
            <a:ext cx="74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6" name="Shape 11">
            <a:extLst>
              <a:ext uri="{FF2B5EF4-FFF2-40B4-BE49-F238E27FC236}">
                <a16:creationId xmlns:a16="http://schemas.microsoft.com/office/drawing/2014/main" id="{F960661A-1C3C-57EF-E3D0-306770C0282A}"/>
              </a:ext>
            </a:extLst>
          </p:cNvPr>
          <p:cNvSpPr/>
          <p:nvPr/>
        </p:nvSpPr>
        <p:spPr>
          <a:xfrm>
            <a:off x="1765300" y="7405021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09B0C1A1-019D-5CD5-39B7-FCB84C7EF87A}"/>
              </a:ext>
            </a:extLst>
          </p:cNvPr>
          <p:cNvSpPr/>
          <p:nvPr/>
        </p:nvSpPr>
        <p:spPr>
          <a:xfrm>
            <a:off x="1765300" y="740502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8CD833B9-3058-9F9C-58A1-F878F338999B}"/>
              </a:ext>
            </a:extLst>
          </p:cNvPr>
          <p:cNvSpPr/>
          <p:nvPr/>
        </p:nvSpPr>
        <p:spPr>
          <a:xfrm>
            <a:off x="2362300" y="7405021"/>
            <a:ext cx="385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Do Objeto.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830E9655-C8C9-B10A-4F1D-91907BE02C6A}"/>
              </a:ext>
            </a:extLst>
          </p:cNvPr>
          <p:cNvSpPr/>
          <p:nvPr/>
        </p:nvSpPr>
        <p:spPr>
          <a:xfrm>
            <a:off x="1765299" y="8017094"/>
            <a:ext cx="5256213" cy="71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E3C5E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2.1. O presente contrato tem como objetivo a prestação de serviços nas modalidades selecionadas, na forma presencial, na sede da Clínica, por meio de profissionais técnicos e qualificados do quadro desta, cujo interesse é o desenvolvimento do(a) Paciente em cada uma dessas áreas:</a:t>
            </a:r>
            <a:endParaRPr lang="pt-BR" sz="1100" noProof="0" dirty="0">
              <a:solidFill>
                <a:srgbClr val="0E3C5E"/>
              </a:solidFill>
              <a:latin typeface="Montserrat" pitchFamily="2" charset="77"/>
            </a:endParaRPr>
          </a:p>
        </p:txBody>
      </p:sp>
      <p:sp>
        <p:nvSpPr>
          <p:cNvPr id="90" name="Shape 15">
            <a:extLst>
              <a:ext uri="{FF2B5EF4-FFF2-40B4-BE49-F238E27FC236}">
                <a16:creationId xmlns:a16="http://schemas.microsoft.com/office/drawing/2014/main" id="{7C492306-09F4-DBF6-8576-7FE535A22654}"/>
              </a:ext>
            </a:extLst>
          </p:cNvPr>
          <p:cNvSpPr/>
          <p:nvPr/>
        </p:nvSpPr>
        <p:spPr>
          <a:xfrm>
            <a:off x="3991864" y="9350949"/>
            <a:ext cx="2144268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66861836-0824-C6E8-FF69-77850F614168}"/>
              </a:ext>
            </a:extLst>
          </p:cNvPr>
          <p:cNvSpPr/>
          <p:nvPr/>
        </p:nvSpPr>
        <p:spPr>
          <a:xfrm>
            <a:off x="3991864" y="8884605"/>
            <a:ext cx="2144268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92C92091-409C-CF93-1115-DFEB9E858A71}"/>
              </a:ext>
            </a:extLst>
          </p:cNvPr>
          <p:cNvSpPr/>
          <p:nvPr/>
        </p:nvSpPr>
        <p:spPr>
          <a:xfrm>
            <a:off x="1765300" y="9350949"/>
            <a:ext cx="2144268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3" name="Shape 15">
            <a:extLst>
              <a:ext uri="{FF2B5EF4-FFF2-40B4-BE49-F238E27FC236}">
                <a16:creationId xmlns:a16="http://schemas.microsoft.com/office/drawing/2014/main" id="{4C5E1ECC-12CF-ACD6-4E2C-5D636B363374}"/>
              </a:ext>
            </a:extLst>
          </p:cNvPr>
          <p:cNvSpPr/>
          <p:nvPr/>
        </p:nvSpPr>
        <p:spPr>
          <a:xfrm>
            <a:off x="1765300" y="8890197"/>
            <a:ext cx="2144268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4" name="Shape 16">
            <a:extLst>
              <a:ext uri="{FF2B5EF4-FFF2-40B4-BE49-F238E27FC236}">
                <a16:creationId xmlns:a16="http://schemas.microsoft.com/office/drawing/2014/main" id="{CF95AD11-0DCA-BDD2-9725-F210A6FE7D90}"/>
              </a:ext>
            </a:extLst>
          </p:cNvPr>
          <p:cNvSpPr/>
          <p:nvPr/>
        </p:nvSpPr>
        <p:spPr>
          <a:xfrm>
            <a:off x="1929892" y="8985189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endParaRPr lang="pt-BR" sz="800" noProof="0" dirty="0">
              <a:latin typeface="Montserrat" pitchFamily="2" charset="77"/>
            </a:endParaRPr>
          </a:p>
        </p:txBody>
      </p:sp>
      <p:sp>
        <p:nvSpPr>
          <p:cNvPr id="95" name="Text 17">
            <a:extLst>
              <a:ext uri="{FF2B5EF4-FFF2-40B4-BE49-F238E27FC236}">
                <a16:creationId xmlns:a16="http://schemas.microsoft.com/office/drawing/2014/main" id="{8FB7CF52-0813-62EE-4E69-1951B431A1CB}"/>
              </a:ext>
            </a:extLst>
          </p:cNvPr>
          <p:cNvSpPr/>
          <p:nvPr/>
        </p:nvSpPr>
        <p:spPr>
          <a:xfrm>
            <a:off x="2240788" y="8829741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Neuropsicologia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6" name="Shape 19">
            <a:extLst>
              <a:ext uri="{FF2B5EF4-FFF2-40B4-BE49-F238E27FC236}">
                <a16:creationId xmlns:a16="http://schemas.microsoft.com/office/drawing/2014/main" id="{4CB4D258-1230-65F2-F41A-DC493C94266E}"/>
              </a:ext>
            </a:extLst>
          </p:cNvPr>
          <p:cNvSpPr/>
          <p:nvPr/>
        </p:nvSpPr>
        <p:spPr>
          <a:xfrm>
            <a:off x="4238752" y="8985189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endParaRPr lang="pt-BR" sz="800" noProof="0" dirty="0">
              <a:latin typeface="Montserrat" pitchFamily="2" charset="77"/>
            </a:endParaRPr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EC76B48E-49F1-96FD-E759-687BB2F558BC}"/>
              </a:ext>
            </a:extLst>
          </p:cNvPr>
          <p:cNvSpPr/>
          <p:nvPr/>
        </p:nvSpPr>
        <p:spPr>
          <a:xfrm>
            <a:off x="4549648" y="8829741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Psicologia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8" name="Shape 22">
            <a:extLst>
              <a:ext uri="{FF2B5EF4-FFF2-40B4-BE49-F238E27FC236}">
                <a16:creationId xmlns:a16="http://schemas.microsoft.com/office/drawing/2014/main" id="{243A8064-D32F-2EAE-6164-14B8C3B34E66}"/>
              </a:ext>
            </a:extLst>
          </p:cNvPr>
          <p:cNvSpPr/>
          <p:nvPr/>
        </p:nvSpPr>
        <p:spPr>
          <a:xfrm>
            <a:off x="1929892" y="944269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endParaRPr lang="pt-BR" sz="800" noProof="0" dirty="0">
              <a:latin typeface="Montserrat" pitchFamily="2" charset="77"/>
            </a:endParaRPr>
          </a:p>
        </p:txBody>
      </p:sp>
      <p:sp>
        <p:nvSpPr>
          <p:cNvPr id="99" name="Text 23">
            <a:extLst>
              <a:ext uri="{FF2B5EF4-FFF2-40B4-BE49-F238E27FC236}">
                <a16:creationId xmlns:a16="http://schemas.microsoft.com/office/drawing/2014/main" id="{D5599E8E-DA18-1434-0B71-3CA3BE4CFF22}"/>
              </a:ext>
            </a:extLst>
          </p:cNvPr>
          <p:cNvSpPr/>
          <p:nvPr/>
        </p:nvSpPr>
        <p:spPr>
          <a:xfrm>
            <a:off x="2240788" y="9287244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Terapia Ocupacional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0" name="Shape 25">
            <a:extLst>
              <a:ext uri="{FF2B5EF4-FFF2-40B4-BE49-F238E27FC236}">
                <a16:creationId xmlns:a16="http://schemas.microsoft.com/office/drawing/2014/main" id="{B4A36C28-5F06-C110-0949-0F6DA82AAED0}"/>
              </a:ext>
            </a:extLst>
          </p:cNvPr>
          <p:cNvSpPr/>
          <p:nvPr/>
        </p:nvSpPr>
        <p:spPr>
          <a:xfrm>
            <a:off x="4238752" y="944269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endParaRPr lang="pt-BR" sz="800" noProof="0" dirty="0">
              <a:latin typeface="Montserrat" pitchFamily="2" charset="77"/>
            </a:endParaRPr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322A9510-58DF-A577-FB80-5E5DA9D187F3}"/>
              </a:ext>
            </a:extLst>
          </p:cNvPr>
          <p:cNvSpPr/>
          <p:nvPr/>
        </p:nvSpPr>
        <p:spPr>
          <a:xfrm>
            <a:off x="4549648" y="9287244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Fonoaudiologia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4774B144-015F-DAF8-E68B-2ED29436E4CD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3166E1D9-3F1E-C939-A759-B3583F7DEEDC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7"/>
          <p:cNvSpPr/>
          <p:nvPr/>
        </p:nvSpPr>
        <p:spPr>
          <a:xfrm>
            <a:off x="1765300" y="987425"/>
            <a:ext cx="5248148" cy="147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2.2. As partes ficam cientes de que os trabalhos desenvolvidos por cada um dos profissionais designados a cada uma das terapias que compõem o quadro da Clínica se configuram como trabalhos de meio, e não de resultado.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2.3. Cada sessão, de cada terapia específica, tem duração média de 60 minutos, estando incluído nesse tempo o feedback da sessão ocorrida ao responsável pelo acompanhamento do(a) Paciente na ocasião.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560320" y="5335464"/>
            <a:ext cx="4453128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200" noProof="0" dirty="0"/>
          </a:p>
        </p:txBody>
      </p:sp>
      <p:sp>
        <p:nvSpPr>
          <p:cNvPr id="32" name="Shape 29"/>
          <p:cNvSpPr/>
          <p:nvPr/>
        </p:nvSpPr>
        <p:spPr>
          <a:xfrm>
            <a:off x="1765300" y="28330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765300" y="2833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03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387092" y="2833052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pagamento.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765300" y="3416744"/>
            <a:ext cx="5248148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3.1. A Contratada perceberá da Contratante, pelos serviços objeto deste contrato, os seguintes valores por sessão realizada em cada terapia, a serem pagos mensalmente via Pix, dinheiro em espécie, transferência bancária ou cartão de crédito/débito: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81F1A56A-462D-7AA5-39A6-5FDA5DD8C004}"/>
              </a:ext>
            </a:extLst>
          </p:cNvPr>
          <p:cNvSpPr/>
          <p:nvPr/>
        </p:nvSpPr>
        <p:spPr>
          <a:xfrm>
            <a:off x="1" y="0"/>
            <a:ext cx="1343814" cy="10689336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0" name="Image 0" descr="/tmp/vm/img/logo_color.png">
            <a:extLst>
              <a:ext uri="{FF2B5EF4-FFF2-40B4-BE49-F238E27FC236}">
                <a16:creationId xmlns:a16="http://schemas.microsoft.com/office/drawing/2014/main" id="{B826AD05-513E-1C16-7E4D-DB81F92DDF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41" name="Shape 1">
            <a:extLst>
              <a:ext uri="{FF2B5EF4-FFF2-40B4-BE49-F238E27FC236}">
                <a16:creationId xmlns:a16="http://schemas.microsoft.com/office/drawing/2014/main" id="{96F91480-071C-C5EC-ECE6-E72AD5876079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C73507BB-B969-7F2F-2681-FCAA8215A83D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04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435B0E46-618D-7AC5-9E55-F314EEEDED87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B62519E1-DF91-B225-F30A-3969982B89E2}"/>
              </a:ext>
            </a:extLst>
          </p:cNvPr>
          <p:cNvSpPr/>
          <p:nvPr/>
        </p:nvSpPr>
        <p:spPr>
          <a:xfrm>
            <a:off x="137160" y="320956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A82A1E7F-8AC7-5D1A-6773-A90A6704D5F6}"/>
              </a:ext>
            </a:extLst>
          </p:cNvPr>
          <p:cNvSpPr/>
          <p:nvPr/>
        </p:nvSpPr>
        <p:spPr>
          <a:xfrm>
            <a:off x="137160" y="32095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3F5DA5AB-0526-1816-D08A-1B989828F566}"/>
              </a:ext>
            </a:extLst>
          </p:cNvPr>
          <p:cNvSpPr/>
          <p:nvPr/>
        </p:nvSpPr>
        <p:spPr>
          <a:xfrm>
            <a:off x="512766" y="309069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82788A65-9B11-CA78-D977-D8DFDDC6CECA}"/>
              </a:ext>
            </a:extLst>
          </p:cNvPr>
          <p:cNvSpPr/>
          <p:nvPr/>
        </p:nvSpPr>
        <p:spPr>
          <a:xfrm>
            <a:off x="137160" y="376617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9F1B6AF4-AFFC-3409-E52E-8B920F21CFAC}"/>
              </a:ext>
            </a:extLst>
          </p:cNvPr>
          <p:cNvSpPr/>
          <p:nvPr/>
        </p:nvSpPr>
        <p:spPr>
          <a:xfrm>
            <a:off x="137160" y="3766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8C11773-5AF3-8C83-84B8-9C01A2E7BE2E}"/>
              </a:ext>
            </a:extLst>
          </p:cNvPr>
          <p:cNvSpPr/>
          <p:nvPr/>
        </p:nvSpPr>
        <p:spPr>
          <a:xfrm>
            <a:off x="512766" y="364730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370E22C4-B0D3-5AE2-B156-66F264BC479C}"/>
              </a:ext>
            </a:extLst>
          </p:cNvPr>
          <p:cNvSpPr/>
          <p:nvPr/>
        </p:nvSpPr>
        <p:spPr>
          <a:xfrm>
            <a:off x="137160" y="4322788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BB69EFA6-887F-2047-6FDA-BE4A0A9F10CE}"/>
              </a:ext>
            </a:extLst>
          </p:cNvPr>
          <p:cNvSpPr/>
          <p:nvPr/>
        </p:nvSpPr>
        <p:spPr>
          <a:xfrm>
            <a:off x="137160" y="4322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8A4FBEE9-8A48-2562-6E0F-6CBD1145BDBC}"/>
              </a:ext>
            </a:extLst>
          </p:cNvPr>
          <p:cNvSpPr/>
          <p:nvPr/>
        </p:nvSpPr>
        <p:spPr>
          <a:xfrm>
            <a:off x="512766" y="4203916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94739707-A1EB-F6CC-609F-86E08CBB1E3B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3854362D-DBE4-A162-B94A-00F370E1D0EF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A3FBF487-23A4-0F70-54B6-741B3A3FCCFC}"/>
              </a:ext>
            </a:extLst>
          </p:cNvPr>
          <p:cNvSpPr/>
          <p:nvPr/>
        </p:nvSpPr>
        <p:spPr>
          <a:xfrm>
            <a:off x="512766" y="4760528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CB794307-94B6-E74D-D675-CABC1CB83D32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72D41884-13BE-F687-56D0-9283A6662A1B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0D8E0DA1-F86C-73C8-A54A-8A54C5F06237}"/>
              </a:ext>
            </a:extLst>
          </p:cNvPr>
          <p:cNvSpPr/>
          <p:nvPr/>
        </p:nvSpPr>
        <p:spPr>
          <a:xfrm>
            <a:off x="512766" y="531714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AEDDC765-78D8-CC84-DE91-A9A10D89C6FD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3A4A7E3C-88DC-01F0-4E34-4F23E2FAD544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AA28C0C6-0D4B-E282-1565-E9D00A03A5D4}"/>
              </a:ext>
            </a:extLst>
          </p:cNvPr>
          <p:cNvSpPr/>
          <p:nvPr/>
        </p:nvSpPr>
        <p:spPr>
          <a:xfrm>
            <a:off x="512766" y="5862029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F36119D2-7393-F327-58B3-70B2F37DF782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4E59CFCF-D3D3-D18E-6DB2-6FADFDD35143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2209BB25-49A3-A266-AAFF-4F521290AAAE}"/>
              </a:ext>
            </a:extLst>
          </p:cNvPr>
          <p:cNvSpPr/>
          <p:nvPr/>
        </p:nvSpPr>
        <p:spPr>
          <a:xfrm>
            <a:off x="512766" y="6418641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98DE6FD-D967-3C27-0CB1-9FAED0472045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D85CB538-FBDE-8DCF-09B7-2E0DFE22F824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5C64C405-C627-20BD-A4E3-AA8999DE5729}"/>
              </a:ext>
            </a:extLst>
          </p:cNvPr>
          <p:cNvSpPr/>
          <p:nvPr/>
        </p:nvSpPr>
        <p:spPr>
          <a:xfrm>
            <a:off x="512766" y="697525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D15DF7C4-35E3-1BF6-48C2-73E576B642F1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DCB00642-6A9E-6065-93FF-7DACC8CE0845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A5A32217-C0F1-7040-8C04-9D845A2E541B}"/>
              </a:ext>
            </a:extLst>
          </p:cNvPr>
          <p:cNvSpPr/>
          <p:nvPr/>
        </p:nvSpPr>
        <p:spPr>
          <a:xfrm>
            <a:off x="512766" y="753186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A83C4985-D941-49B7-A821-ACCF436FB3E3}"/>
              </a:ext>
            </a:extLst>
          </p:cNvPr>
          <p:cNvSpPr/>
          <p:nvPr/>
        </p:nvSpPr>
        <p:spPr>
          <a:xfrm>
            <a:off x="137160" y="2530943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9" name="Shape 3">
            <a:extLst>
              <a:ext uri="{FF2B5EF4-FFF2-40B4-BE49-F238E27FC236}">
                <a16:creationId xmlns:a16="http://schemas.microsoft.com/office/drawing/2014/main" id="{5E3BBCE0-0003-879F-6C46-9EB137BA6CD3}"/>
              </a:ext>
            </a:extLst>
          </p:cNvPr>
          <p:cNvSpPr/>
          <p:nvPr/>
        </p:nvSpPr>
        <p:spPr>
          <a:xfrm>
            <a:off x="221169" y="2651756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ADDC5BF5-398E-D20B-C1F6-2365802C5C31}"/>
              </a:ext>
            </a:extLst>
          </p:cNvPr>
          <p:cNvSpPr/>
          <p:nvPr/>
        </p:nvSpPr>
        <p:spPr>
          <a:xfrm>
            <a:off x="221169" y="2651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8DB03543-2A06-A760-562C-EFAEF58166D1}"/>
              </a:ext>
            </a:extLst>
          </p:cNvPr>
          <p:cNvSpPr/>
          <p:nvPr/>
        </p:nvSpPr>
        <p:spPr>
          <a:xfrm>
            <a:off x="660081" y="2532884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</a:t>
            </a:r>
            <a:r>
              <a:rPr lang="pt-BR" sz="1000" b="1" noProof="0" dirty="0" err="1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EE7EFBDD-BD70-6211-7F54-B675E49D9152}"/>
              </a:ext>
            </a:extLst>
          </p:cNvPr>
          <p:cNvSpPr/>
          <p:nvPr/>
        </p:nvSpPr>
        <p:spPr>
          <a:xfrm>
            <a:off x="4332911" y="4802497"/>
            <a:ext cx="2282195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3" name="Shape 15">
            <a:extLst>
              <a:ext uri="{FF2B5EF4-FFF2-40B4-BE49-F238E27FC236}">
                <a16:creationId xmlns:a16="http://schemas.microsoft.com/office/drawing/2014/main" id="{9E3CAE42-2017-E77B-E270-E865B6886958}"/>
              </a:ext>
            </a:extLst>
          </p:cNvPr>
          <p:cNvSpPr/>
          <p:nvPr/>
        </p:nvSpPr>
        <p:spPr>
          <a:xfrm>
            <a:off x="4332911" y="4336153"/>
            <a:ext cx="2282195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4" name="Shape 15">
            <a:extLst>
              <a:ext uri="{FF2B5EF4-FFF2-40B4-BE49-F238E27FC236}">
                <a16:creationId xmlns:a16="http://schemas.microsoft.com/office/drawing/2014/main" id="{DAC82CDA-2205-E098-24D9-D8C9ABBB3318}"/>
              </a:ext>
            </a:extLst>
          </p:cNvPr>
          <p:cNvSpPr/>
          <p:nvPr/>
        </p:nvSpPr>
        <p:spPr>
          <a:xfrm>
            <a:off x="1765299" y="4802497"/>
            <a:ext cx="2500253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7179CC35-E427-9007-EC67-AB14009D643F}"/>
              </a:ext>
            </a:extLst>
          </p:cNvPr>
          <p:cNvSpPr/>
          <p:nvPr/>
        </p:nvSpPr>
        <p:spPr>
          <a:xfrm>
            <a:off x="1765299" y="4341745"/>
            <a:ext cx="2500253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7" name="Text 17">
            <a:extLst>
              <a:ext uri="{FF2B5EF4-FFF2-40B4-BE49-F238E27FC236}">
                <a16:creationId xmlns:a16="http://schemas.microsoft.com/office/drawing/2014/main" id="{6AC2C2AC-6F96-BDF4-FBD8-2AFBE18B56B8}"/>
              </a:ext>
            </a:extLst>
          </p:cNvPr>
          <p:cNvSpPr/>
          <p:nvPr/>
        </p:nvSpPr>
        <p:spPr>
          <a:xfrm>
            <a:off x="1859788" y="4281289"/>
            <a:ext cx="24057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Neuropsicologia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R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$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xxx,xxx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1B121208-BA8D-D2FF-372E-3996073DA092}"/>
              </a:ext>
            </a:extLst>
          </p:cNvPr>
          <p:cNvSpPr/>
          <p:nvPr/>
        </p:nvSpPr>
        <p:spPr>
          <a:xfrm>
            <a:off x="4448735" y="4281289"/>
            <a:ext cx="21663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Psicologia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R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$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xxx,xx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17A876CB-8BFD-EE0C-E8C1-7D0F6A067174}"/>
              </a:ext>
            </a:extLst>
          </p:cNvPr>
          <p:cNvSpPr/>
          <p:nvPr/>
        </p:nvSpPr>
        <p:spPr>
          <a:xfrm>
            <a:off x="1859787" y="4738792"/>
            <a:ext cx="24057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Terapia Ocupacional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R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$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xxx,xx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E009C76B-C91E-84DB-9BC6-EAE11E84801E}"/>
              </a:ext>
            </a:extLst>
          </p:cNvPr>
          <p:cNvSpPr/>
          <p:nvPr/>
        </p:nvSpPr>
        <p:spPr>
          <a:xfrm>
            <a:off x="4448736" y="4738792"/>
            <a:ext cx="21663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Fonoaudiologia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R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$ </a:t>
            </a: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xxx,xx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4" name="Text 24">
            <a:extLst>
              <a:ext uri="{FF2B5EF4-FFF2-40B4-BE49-F238E27FC236}">
                <a16:creationId xmlns:a16="http://schemas.microsoft.com/office/drawing/2014/main" id="{88525DA5-45CF-FAFC-51D1-85708E17F6C3}"/>
              </a:ext>
            </a:extLst>
          </p:cNvPr>
          <p:cNvSpPr/>
          <p:nvPr/>
        </p:nvSpPr>
        <p:spPr>
          <a:xfrm>
            <a:off x="1765300" y="5362545"/>
            <a:ext cx="4453128" cy="213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3.2. Dados para pagamento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5" name="Shape 25">
            <a:extLst>
              <a:ext uri="{FF2B5EF4-FFF2-40B4-BE49-F238E27FC236}">
                <a16:creationId xmlns:a16="http://schemas.microsoft.com/office/drawing/2014/main" id="{3D574B5A-1AEB-0B4D-A2EA-24025A1607DA}"/>
              </a:ext>
            </a:extLst>
          </p:cNvPr>
          <p:cNvSpPr/>
          <p:nvPr/>
        </p:nvSpPr>
        <p:spPr>
          <a:xfrm>
            <a:off x="1765298" y="5688817"/>
            <a:ext cx="5248147" cy="1705476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/>
        </p:spPr>
        <p:txBody>
          <a:bodyPr/>
          <a:lstStyle/>
          <a:p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FF0281BF-62DB-E070-84E3-245C4A93E1F6}"/>
              </a:ext>
            </a:extLst>
          </p:cNvPr>
          <p:cNvSpPr/>
          <p:nvPr/>
        </p:nvSpPr>
        <p:spPr>
          <a:xfrm>
            <a:off x="2039619" y="5801015"/>
            <a:ext cx="2095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PIX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07" name="Text 27">
            <a:extLst>
              <a:ext uri="{FF2B5EF4-FFF2-40B4-BE49-F238E27FC236}">
                <a16:creationId xmlns:a16="http://schemas.microsoft.com/office/drawing/2014/main" id="{1ED668AE-4D4F-CEE4-7A93-37137CCF02CF}"/>
              </a:ext>
            </a:extLst>
          </p:cNvPr>
          <p:cNvSpPr/>
          <p:nvPr/>
        </p:nvSpPr>
        <p:spPr>
          <a:xfrm>
            <a:off x="2039619" y="6020471"/>
            <a:ext cx="2095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[chave pix]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8" name="Text 28">
            <a:extLst>
              <a:ext uri="{FF2B5EF4-FFF2-40B4-BE49-F238E27FC236}">
                <a16:creationId xmlns:a16="http://schemas.microsoft.com/office/drawing/2014/main" id="{6B5A2ADA-9BEB-7882-F7F9-D141D204456A}"/>
              </a:ext>
            </a:extLst>
          </p:cNvPr>
          <p:cNvSpPr/>
          <p:nvPr/>
        </p:nvSpPr>
        <p:spPr>
          <a:xfrm>
            <a:off x="4248885" y="5801015"/>
            <a:ext cx="2651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BANCO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09" name="Text 29">
            <a:extLst>
              <a:ext uri="{FF2B5EF4-FFF2-40B4-BE49-F238E27FC236}">
                <a16:creationId xmlns:a16="http://schemas.microsoft.com/office/drawing/2014/main" id="{CE8F91BF-4C4A-12D4-7794-D3AB4FD2A831}"/>
              </a:ext>
            </a:extLst>
          </p:cNvPr>
          <p:cNvSpPr/>
          <p:nvPr/>
        </p:nvSpPr>
        <p:spPr>
          <a:xfrm>
            <a:off x="4248885" y="6020471"/>
            <a:ext cx="2651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[nome do banco]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0" name="Text 30">
            <a:extLst>
              <a:ext uri="{FF2B5EF4-FFF2-40B4-BE49-F238E27FC236}">
                <a16:creationId xmlns:a16="http://schemas.microsoft.com/office/drawing/2014/main" id="{BEA82459-8ED5-65B9-CD82-B8ABD4854401}"/>
              </a:ext>
            </a:extLst>
          </p:cNvPr>
          <p:cNvSpPr/>
          <p:nvPr/>
        </p:nvSpPr>
        <p:spPr>
          <a:xfrm>
            <a:off x="2039619" y="6313079"/>
            <a:ext cx="2095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AGÊNCIA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9019C430-4707-5E1C-EA6F-45E0268CE363}"/>
              </a:ext>
            </a:extLst>
          </p:cNvPr>
          <p:cNvSpPr/>
          <p:nvPr/>
        </p:nvSpPr>
        <p:spPr>
          <a:xfrm>
            <a:off x="2039619" y="6532535"/>
            <a:ext cx="2095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[XXXX]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2" name="Text 32">
            <a:extLst>
              <a:ext uri="{FF2B5EF4-FFF2-40B4-BE49-F238E27FC236}">
                <a16:creationId xmlns:a16="http://schemas.microsoft.com/office/drawing/2014/main" id="{92308AB0-B4D5-E5D4-8D17-59BE2D6DC293}"/>
              </a:ext>
            </a:extLst>
          </p:cNvPr>
          <p:cNvSpPr/>
          <p:nvPr/>
        </p:nvSpPr>
        <p:spPr>
          <a:xfrm>
            <a:off x="4248885" y="6313079"/>
            <a:ext cx="2651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CONTA CORRENTE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13" name="Text 33">
            <a:extLst>
              <a:ext uri="{FF2B5EF4-FFF2-40B4-BE49-F238E27FC236}">
                <a16:creationId xmlns:a16="http://schemas.microsoft.com/office/drawing/2014/main" id="{B576978B-300B-CD4E-3838-3CFF3D2601ED}"/>
              </a:ext>
            </a:extLst>
          </p:cNvPr>
          <p:cNvSpPr/>
          <p:nvPr/>
        </p:nvSpPr>
        <p:spPr>
          <a:xfrm>
            <a:off x="4248885" y="6532535"/>
            <a:ext cx="2651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[XXXXXXX-X]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4" name="Text 34">
            <a:extLst>
              <a:ext uri="{FF2B5EF4-FFF2-40B4-BE49-F238E27FC236}">
                <a16:creationId xmlns:a16="http://schemas.microsoft.com/office/drawing/2014/main" id="{B8CD304E-3845-DCE1-DB23-E008EFBED3DE}"/>
              </a:ext>
            </a:extLst>
          </p:cNvPr>
          <p:cNvSpPr/>
          <p:nvPr/>
        </p:nvSpPr>
        <p:spPr>
          <a:xfrm>
            <a:off x="2039619" y="6825143"/>
            <a:ext cx="2095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TITULAR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15" name="Text 35">
            <a:extLst>
              <a:ext uri="{FF2B5EF4-FFF2-40B4-BE49-F238E27FC236}">
                <a16:creationId xmlns:a16="http://schemas.microsoft.com/office/drawing/2014/main" id="{B5765929-DAE4-9A41-AC05-97F54176AFE4}"/>
              </a:ext>
            </a:extLst>
          </p:cNvPr>
          <p:cNvSpPr/>
          <p:nvPr/>
        </p:nvSpPr>
        <p:spPr>
          <a:xfrm>
            <a:off x="2039619" y="7042062"/>
            <a:ext cx="2095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[nome]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857B8CD4-DDF2-8336-BB6A-0956BA6E8B2D}"/>
              </a:ext>
            </a:extLst>
          </p:cNvPr>
          <p:cNvSpPr/>
          <p:nvPr/>
        </p:nvSpPr>
        <p:spPr>
          <a:xfrm>
            <a:off x="4248885" y="6825143"/>
            <a:ext cx="2651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50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CNPJ</a:t>
            </a:r>
            <a:endParaRPr lang="pt-BR" sz="1100" noProof="0" dirty="0">
              <a:solidFill>
                <a:srgbClr val="164CF7"/>
              </a:solidFill>
              <a:latin typeface="Montserrat" pitchFamily="2" charset="77"/>
            </a:endParaRPr>
          </a:p>
        </p:txBody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B3501040-38A8-085F-5149-E7E28CE1A1DF}"/>
              </a:ext>
            </a:extLst>
          </p:cNvPr>
          <p:cNvSpPr/>
          <p:nvPr/>
        </p:nvSpPr>
        <p:spPr>
          <a:xfrm>
            <a:off x="4248885" y="7044599"/>
            <a:ext cx="2651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[XX.XXX.XXX/0001-XX]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8" name="Text 10">
            <a:extLst>
              <a:ext uri="{FF2B5EF4-FFF2-40B4-BE49-F238E27FC236}">
                <a16:creationId xmlns:a16="http://schemas.microsoft.com/office/drawing/2014/main" id="{07E547DC-4911-18F8-945D-7F8D4E2C8431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5003DD4D-13E8-1C36-971E-F4925ECE7E77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0" name="Text 38">
            <a:extLst>
              <a:ext uri="{FF2B5EF4-FFF2-40B4-BE49-F238E27FC236}">
                <a16:creationId xmlns:a16="http://schemas.microsoft.com/office/drawing/2014/main" id="{2319CAF4-0EE1-00C2-BF64-9A7E3E0CD292}"/>
              </a:ext>
            </a:extLst>
          </p:cNvPr>
          <p:cNvSpPr/>
          <p:nvPr/>
        </p:nvSpPr>
        <p:spPr>
          <a:xfrm>
            <a:off x="1765299" y="7569761"/>
            <a:ext cx="5248145" cy="36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3.3. O Contratante deverá efetuar o pagamento global na data acertada por ocasião da contratação, conforme selecionado a seguir: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1" name="Shape 39">
            <a:extLst>
              <a:ext uri="{FF2B5EF4-FFF2-40B4-BE49-F238E27FC236}">
                <a16:creationId xmlns:a16="http://schemas.microsoft.com/office/drawing/2014/main" id="{63E593D3-83F7-90B3-FE0B-2650CA82C6AD}"/>
              </a:ext>
            </a:extLst>
          </p:cNvPr>
          <p:cNvSpPr/>
          <p:nvPr/>
        </p:nvSpPr>
        <p:spPr>
          <a:xfrm>
            <a:off x="1765300" y="8138225"/>
            <a:ext cx="15755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2" name="Shape 40">
            <a:extLst>
              <a:ext uri="{FF2B5EF4-FFF2-40B4-BE49-F238E27FC236}">
                <a16:creationId xmlns:a16="http://schemas.microsoft.com/office/drawing/2014/main" id="{2034E431-EA7B-E319-0E23-2B434C49246D}"/>
              </a:ext>
            </a:extLst>
          </p:cNvPr>
          <p:cNvSpPr/>
          <p:nvPr/>
        </p:nvSpPr>
        <p:spPr>
          <a:xfrm>
            <a:off x="1948180" y="8293673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3" name="Text 41">
            <a:extLst>
              <a:ext uri="{FF2B5EF4-FFF2-40B4-BE49-F238E27FC236}">
                <a16:creationId xmlns:a16="http://schemas.microsoft.com/office/drawing/2014/main" id="{9939407C-1684-A167-A161-55C5F607AFE3}"/>
              </a:ext>
            </a:extLst>
          </p:cNvPr>
          <p:cNvSpPr/>
          <p:nvPr/>
        </p:nvSpPr>
        <p:spPr>
          <a:xfrm>
            <a:off x="2240788" y="8138225"/>
            <a:ext cx="1062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Todo dia 05 do mês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4" name="Shape 42">
            <a:extLst>
              <a:ext uri="{FF2B5EF4-FFF2-40B4-BE49-F238E27FC236}">
                <a16:creationId xmlns:a16="http://schemas.microsoft.com/office/drawing/2014/main" id="{648C8EFD-CF5A-4AE8-5D1C-0A20BD3EAA9E}"/>
              </a:ext>
            </a:extLst>
          </p:cNvPr>
          <p:cNvSpPr/>
          <p:nvPr/>
        </p:nvSpPr>
        <p:spPr>
          <a:xfrm>
            <a:off x="3533836" y="8138225"/>
            <a:ext cx="15755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5" name="Shape 43">
            <a:extLst>
              <a:ext uri="{FF2B5EF4-FFF2-40B4-BE49-F238E27FC236}">
                <a16:creationId xmlns:a16="http://schemas.microsoft.com/office/drawing/2014/main" id="{6391D725-DA51-231C-985C-BE2DC541F574}"/>
              </a:ext>
            </a:extLst>
          </p:cNvPr>
          <p:cNvSpPr/>
          <p:nvPr/>
        </p:nvSpPr>
        <p:spPr>
          <a:xfrm>
            <a:off x="3716716" y="8293673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6" name="Text 44">
            <a:extLst>
              <a:ext uri="{FF2B5EF4-FFF2-40B4-BE49-F238E27FC236}">
                <a16:creationId xmlns:a16="http://schemas.microsoft.com/office/drawing/2014/main" id="{2258F1A7-B8F9-67BA-C106-8DEF125BA0EA}"/>
              </a:ext>
            </a:extLst>
          </p:cNvPr>
          <p:cNvSpPr/>
          <p:nvPr/>
        </p:nvSpPr>
        <p:spPr>
          <a:xfrm>
            <a:off x="4009324" y="8138225"/>
            <a:ext cx="1062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Todo dia 10 do mês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7" name="Shape 45">
            <a:extLst>
              <a:ext uri="{FF2B5EF4-FFF2-40B4-BE49-F238E27FC236}">
                <a16:creationId xmlns:a16="http://schemas.microsoft.com/office/drawing/2014/main" id="{F282BCF3-A1BF-7DBE-D22A-D477DC3A08D5}"/>
              </a:ext>
            </a:extLst>
          </p:cNvPr>
          <p:cNvSpPr/>
          <p:nvPr/>
        </p:nvSpPr>
        <p:spPr>
          <a:xfrm>
            <a:off x="5302372" y="8138225"/>
            <a:ext cx="15755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8" name="Shape 46">
            <a:extLst>
              <a:ext uri="{FF2B5EF4-FFF2-40B4-BE49-F238E27FC236}">
                <a16:creationId xmlns:a16="http://schemas.microsoft.com/office/drawing/2014/main" id="{9BBEED7B-E8F5-D173-887D-A3FC2FE4CD72}"/>
              </a:ext>
            </a:extLst>
          </p:cNvPr>
          <p:cNvSpPr/>
          <p:nvPr/>
        </p:nvSpPr>
        <p:spPr>
          <a:xfrm>
            <a:off x="5485252" y="8293673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4CF7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9" name="Text 47">
            <a:extLst>
              <a:ext uri="{FF2B5EF4-FFF2-40B4-BE49-F238E27FC236}">
                <a16:creationId xmlns:a16="http://schemas.microsoft.com/office/drawing/2014/main" id="{385C2C89-5497-7773-859E-915DA43D0E74}"/>
              </a:ext>
            </a:extLst>
          </p:cNvPr>
          <p:cNvSpPr/>
          <p:nvPr/>
        </p:nvSpPr>
        <p:spPr>
          <a:xfrm>
            <a:off x="5777860" y="8138225"/>
            <a:ext cx="10621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Todo dia 15 do mês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30" name="Text 48">
            <a:extLst>
              <a:ext uri="{FF2B5EF4-FFF2-40B4-BE49-F238E27FC236}">
                <a16:creationId xmlns:a16="http://schemas.microsoft.com/office/drawing/2014/main" id="{20BEB802-C4A2-C7A3-D505-B9FB044162DC}"/>
              </a:ext>
            </a:extLst>
          </p:cNvPr>
          <p:cNvSpPr/>
          <p:nvPr/>
        </p:nvSpPr>
        <p:spPr>
          <a:xfrm>
            <a:off x="1765297" y="8845099"/>
            <a:ext cx="5256215" cy="73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3.4. A quitação se dá após a devida compensação do pagamento.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3.5. Caso haja necessidade de alterar ou transferir a data do pagamento, o Contratante deverá comunicar previamente à Contratada.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31" name="Shape 9">
            <a:extLst>
              <a:ext uri="{FF2B5EF4-FFF2-40B4-BE49-F238E27FC236}">
                <a16:creationId xmlns:a16="http://schemas.microsoft.com/office/drawing/2014/main" id="{02748F9D-B836-D490-F2D9-6FA4DCE8C025}"/>
              </a:ext>
            </a:extLst>
          </p:cNvPr>
          <p:cNvSpPr/>
          <p:nvPr/>
        </p:nvSpPr>
        <p:spPr>
          <a:xfrm>
            <a:off x="137160" y="160179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32" name="Text 10">
            <a:extLst>
              <a:ext uri="{FF2B5EF4-FFF2-40B4-BE49-F238E27FC236}">
                <a16:creationId xmlns:a16="http://schemas.microsoft.com/office/drawing/2014/main" id="{B250FD09-3191-36C1-4966-54F7AA001D8D}"/>
              </a:ext>
            </a:extLst>
          </p:cNvPr>
          <p:cNvSpPr/>
          <p:nvPr/>
        </p:nvSpPr>
        <p:spPr>
          <a:xfrm>
            <a:off x="137160" y="1601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33" name="Text 11">
            <a:extLst>
              <a:ext uri="{FF2B5EF4-FFF2-40B4-BE49-F238E27FC236}">
                <a16:creationId xmlns:a16="http://schemas.microsoft.com/office/drawing/2014/main" id="{E589203A-C8B1-D406-68B9-E5B9904FA085}"/>
              </a:ext>
            </a:extLst>
          </p:cNvPr>
          <p:cNvSpPr/>
          <p:nvPr/>
        </p:nvSpPr>
        <p:spPr>
          <a:xfrm>
            <a:off x="512766" y="148292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34" name="Shape 12">
            <a:extLst>
              <a:ext uri="{FF2B5EF4-FFF2-40B4-BE49-F238E27FC236}">
                <a16:creationId xmlns:a16="http://schemas.microsoft.com/office/drawing/2014/main" id="{F651870A-BC0E-4560-553F-5E5205074F99}"/>
              </a:ext>
            </a:extLst>
          </p:cNvPr>
          <p:cNvSpPr/>
          <p:nvPr/>
        </p:nvSpPr>
        <p:spPr>
          <a:xfrm>
            <a:off x="137160" y="209744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35" name="Text 13">
            <a:extLst>
              <a:ext uri="{FF2B5EF4-FFF2-40B4-BE49-F238E27FC236}">
                <a16:creationId xmlns:a16="http://schemas.microsoft.com/office/drawing/2014/main" id="{1CFCCBAD-2344-18F6-7564-0A341A1B6ACF}"/>
              </a:ext>
            </a:extLst>
          </p:cNvPr>
          <p:cNvSpPr/>
          <p:nvPr/>
        </p:nvSpPr>
        <p:spPr>
          <a:xfrm>
            <a:off x="137160" y="2097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36" name="Text 14">
            <a:extLst>
              <a:ext uri="{FF2B5EF4-FFF2-40B4-BE49-F238E27FC236}">
                <a16:creationId xmlns:a16="http://schemas.microsoft.com/office/drawing/2014/main" id="{78383499-D678-519D-BA4F-1A8D3A419123}"/>
              </a:ext>
            </a:extLst>
          </p:cNvPr>
          <p:cNvSpPr/>
          <p:nvPr/>
        </p:nvSpPr>
        <p:spPr>
          <a:xfrm>
            <a:off x="512766" y="197857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5">
            <a:extLst>
              <a:ext uri="{FF2B5EF4-FFF2-40B4-BE49-F238E27FC236}">
                <a16:creationId xmlns:a16="http://schemas.microsoft.com/office/drawing/2014/main" id="{DAFB7AF1-74F0-0EB4-3E07-65406A9547DE}"/>
              </a:ext>
            </a:extLst>
          </p:cNvPr>
          <p:cNvSpPr/>
          <p:nvPr/>
        </p:nvSpPr>
        <p:spPr>
          <a:xfrm>
            <a:off x="1765298" y="8205673"/>
            <a:ext cx="5247229" cy="1127595"/>
          </a:xfrm>
          <a:prstGeom prst="roundRect">
            <a:avLst>
              <a:gd name="adj" fmla="val 2770"/>
            </a:avLst>
          </a:prstGeom>
          <a:solidFill>
            <a:srgbClr val="EEFFE0"/>
          </a:solidFill>
          <a:ln w="9525">
            <a:solidFill>
              <a:srgbClr val="9BD9AE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49"/>
          <p:cNvSpPr/>
          <p:nvPr/>
        </p:nvSpPr>
        <p:spPr>
          <a:xfrm>
            <a:off x="2560320" y="7187184"/>
            <a:ext cx="4453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799958" y="979892"/>
            <a:ext cx="5221555" cy="155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3.6. O valor da parcela da mensalidade paga após a data do respectivo vencimento sofrerá acréscimo de multa de 2% (dois por cento) e juros de mora de 1% (um por cento) ao mês com correção monetária pelo IGPM.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</a:rPr>
              <a:t>3.7. A ausência do(a) Paciente às sessões de cada terapia específica por longos períodos sem acordo prévio por escrito, como férias e viagens, não isenta o Contratante do pagamento regular dos serviços efetivamente prestados.</a:t>
            </a:r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A8679B7A-0698-882B-2AEA-19EC3A257B20}"/>
              </a:ext>
            </a:extLst>
          </p:cNvPr>
          <p:cNvSpPr/>
          <p:nvPr/>
        </p:nvSpPr>
        <p:spPr>
          <a:xfrm>
            <a:off x="1" y="0"/>
            <a:ext cx="1343814" cy="10689336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5" name="Image 0" descr="/tmp/vm/img/logo_color.png">
            <a:extLst>
              <a:ext uri="{FF2B5EF4-FFF2-40B4-BE49-F238E27FC236}">
                <a16:creationId xmlns:a16="http://schemas.microsoft.com/office/drawing/2014/main" id="{D27A4FD6-E9FB-B2BB-6491-115B8683B85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56" name="Shape 1">
            <a:extLst>
              <a:ext uri="{FF2B5EF4-FFF2-40B4-BE49-F238E27FC236}">
                <a16:creationId xmlns:a16="http://schemas.microsoft.com/office/drawing/2014/main" id="{C326B155-6023-4400-6C05-918D84875471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3C35B75E-6A8C-353D-ABBB-3531A8F84B64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05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58" name="Shape 1">
            <a:extLst>
              <a:ext uri="{FF2B5EF4-FFF2-40B4-BE49-F238E27FC236}">
                <a16:creationId xmlns:a16="http://schemas.microsoft.com/office/drawing/2014/main" id="{7106A739-1202-267D-065D-09657CD599E1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5" name="Shape 18">
            <a:extLst>
              <a:ext uri="{FF2B5EF4-FFF2-40B4-BE49-F238E27FC236}">
                <a16:creationId xmlns:a16="http://schemas.microsoft.com/office/drawing/2014/main" id="{93D49AAD-0193-A130-5C72-4953293D2011}"/>
              </a:ext>
            </a:extLst>
          </p:cNvPr>
          <p:cNvSpPr/>
          <p:nvPr/>
        </p:nvSpPr>
        <p:spPr>
          <a:xfrm>
            <a:off x="137160" y="4361533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5518F5D7-8AF0-54FC-146D-91750F2DAFA9}"/>
              </a:ext>
            </a:extLst>
          </p:cNvPr>
          <p:cNvSpPr/>
          <p:nvPr/>
        </p:nvSpPr>
        <p:spPr>
          <a:xfrm>
            <a:off x="137160" y="43615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C053BA1B-55B0-7C39-0849-803609596693}"/>
              </a:ext>
            </a:extLst>
          </p:cNvPr>
          <p:cNvSpPr/>
          <p:nvPr/>
        </p:nvSpPr>
        <p:spPr>
          <a:xfrm>
            <a:off x="512766" y="4242661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BA22B1E9-9299-E1A7-54F4-A5D8DAFC2207}"/>
              </a:ext>
            </a:extLst>
          </p:cNvPr>
          <p:cNvSpPr/>
          <p:nvPr/>
        </p:nvSpPr>
        <p:spPr>
          <a:xfrm>
            <a:off x="137160" y="491814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9A85D935-A5A4-F2E4-7269-4FB4D0C5AA6A}"/>
              </a:ext>
            </a:extLst>
          </p:cNvPr>
          <p:cNvSpPr/>
          <p:nvPr/>
        </p:nvSpPr>
        <p:spPr>
          <a:xfrm>
            <a:off x="137160" y="49181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98D34AB9-849B-AA88-97D3-04AEBD54FB8A}"/>
              </a:ext>
            </a:extLst>
          </p:cNvPr>
          <p:cNvSpPr/>
          <p:nvPr/>
        </p:nvSpPr>
        <p:spPr>
          <a:xfrm>
            <a:off x="512766" y="479927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1" name="Shape 24">
            <a:extLst>
              <a:ext uri="{FF2B5EF4-FFF2-40B4-BE49-F238E27FC236}">
                <a16:creationId xmlns:a16="http://schemas.microsoft.com/office/drawing/2014/main" id="{1449EB76-6F33-82F2-9A8F-1CA512F1C73A}"/>
              </a:ext>
            </a:extLst>
          </p:cNvPr>
          <p:cNvSpPr/>
          <p:nvPr/>
        </p:nvSpPr>
        <p:spPr>
          <a:xfrm>
            <a:off x="137160" y="547475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3552B731-3B12-44C6-305E-A7C576852523}"/>
              </a:ext>
            </a:extLst>
          </p:cNvPr>
          <p:cNvSpPr/>
          <p:nvPr/>
        </p:nvSpPr>
        <p:spPr>
          <a:xfrm>
            <a:off x="137160" y="54747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7BED00F8-BB8B-2D2E-1F25-2BAF3CE1EACE}"/>
              </a:ext>
            </a:extLst>
          </p:cNvPr>
          <p:cNvSpPr/>
          <p:nvPr/>
        </p:nvSpPr>
        <p:spPr>
          <a:xfrm>
            <a:off x="512766" y="535588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4" name="Shape 27">
            <a:extLst>
              <a:ext uri="{FF2B5EF4-FFF2-40B4-BE49-F238E27FC236}">
                <a16:creationId xmlns:a16="http://schemas.microsoft.com/office/drawing/2014/main" id="{0C2805A2-33BB-2814-8E3B-8BB50617252E}"/>
              </a:ext>
            </a:extLst>
          </p:cNvPr>
          <p:cNvSpPr/>
          <p:nvPr/>
        </p:nvSpPr>
        <p:spPr>
          <a:xfrm>
            <a:off x="137160" y="601964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9B4E6F2F-5BB0-D7AA-FADB-8541E5F2CEE6}"/>
              </a:ext>
            </a:extLst>
          </p:cNvPr>
          <p:cNvSpPr/>
          <p:nvPr/>
        </p:nvSpPr>
        <p:spPr>
          <a:xfrm>
            <a:off x="137160" y="60196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6B6491B2-4B4C-086A-F38D-3566BB267667}"/>
              </a:ext>
            </a:extLst>
          </p:cNvPr>
          <p:cNvSpPr/>
          <p:nvPr/>
        </p:nvSpPr>
        <p:spPr>
          <a:xfrm>
            <a:off x="512766" y="590077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6079C253-3F09-CC02-B854-42D3AA5DC5BD}"/>
              </a:ext>
            </a:extLst>
          </p:cNvPr>
          <p:cNvSpPr/>
          <p:nvPr/>
        </p:nvSpPr>
        <p:spPr>
          <a:xfrm>
            <a:off x="137160" y="6576258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00A02DD9-2D9B-01FB-5479-0232AFFDFD87}"/>
              </a:ext>
            </a:extLst>
          </p:cNvPr>
          <p:cNvSpPr/>
          <p:nvPr/>
        </p:nvSpPr>
        <p:spPr>
          <a:xfrm>
            <a:off x="137160" y="65762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671D1F51-2761-F9EF-A2FA-20B4BE877AEA}"/>
              </a:ext>
            </a:extLst>
          </p:cNvPr>
          <p:cNvSpPr/>
          <p:nvPr/>
        </p:nvSpPr>
        <p:spPr>
          <a:xfrm>
            <a:off x="512766" y="6457386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465A5256-2401-62EE-A422-6784C9B256B7}"/>
              </a:ext>
            </a:extLst>
          </p:cNvPr>
          <p:cNvSpPr/>
          <p:nvPr/>
        </p:nvSpPr>
        <p:spPr>
          <a:xfrm>
            <a:off x="137160" y="7132870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0341BF55-33B2-E04C-7FFF-93B181AE08EC}"/>
              </a:ext>
            </a:extLst>
          </p:cNvPr>
          <p:cNvSpPr/>
          <p:nvPr/>
        </p:nvSpPr>
        <p:spPr>
          <a:xfrm>
            <a:off x="137160" y="71328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D69BD624-4CE2-4FEF-EE56-DA3E2540E420}"/>
              </a:ext>
            </a:extLst>
          </p:cNvPr>
          <p:cNvSpPr/>
          <p:nvPr/>
        </p:nvSpPr>
        <p:spPr>
          <a:xfrm>
            <a:off x="512766" y="7013998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97ACE5BF-53F5-19F0-485B-1350BBDEC589}"/>
              </a:ext>
            </a:extLst>
          </p:cNvPr>
          <p:cNvSpPr/>
          <p:nvPr/>
        </p:nvSpPr>
        <p:spPr>
          <a:xfrm>
            <a:off x="137160" y="768948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A07CB9D6-C525-FBA1-54AE-25E3DE8EAE18}"/>
              </a:ext>
            </a:extLst>
          </p:cNvPr>
          <p:cNvSpPr/>
          <p:nvPr/>
        </p:nvSpPr>
        <p:spPr>
          <a:xfrm>
            <a:off x="137160" y="76894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B9A68D2F-39F8-0F0B-F70C-E3832AAAA9B6}"/>
              </a:ext>
            </a:extLst>
          </p:cNvPr>
          <p:cNvSpPr/>
          <p:nvPr/>
        </p:nvSpPr>
        <p:spPr>
          <a:xfrm>
            <a:off x="512766" y="757061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A03B2D5D-8482-A8D5-6500-3487DF135FD1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A7EF9820-EA87-58DF-032D-A57B21B202E2}"/>
              </a:ext>
            </a:extLst>
          </p:cNvPr>
          <p:cNvSpPr/>
          <p:nvPr/>
        </p:nvSpPr>
        <p:spPr>
          <a:xfrm>
            <a:off x="137160" y="255996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E27F3E9A-5313-28C0-69E5-BA2A38A351FC}"/>
              </a:ext>
            </a:extLst>
          </p:cNvPr>
          <p:cNvSpPr/>
          <p:nvPr/>
        </p:nvSpPr>
        <p:spPr>
          <a:xfrm>
            <a:off x="137160" y="2559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5AF122DA-0F72-F0B2-F3A0-333D80994E3B}"/>
              </a:ext>
            </a:extLst>
          </p:cNvPr>
          <p:cNvSpPr/>
          <p:nvPr/>
        </p:nvSpPr>
        <p:spPr>
          <a:xfrm>
            <a:off x="512766" y="244109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Valores e forma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00" name="Shape 2">
            <a:extLst>
              <a:ext uri="{FF2B5EF4-FFF2-40B4-BE49-F238E27FC236}">
                <a16:creationId xmlns:a16="http://schemas.microsoft.com/office/drawing/2014/main" id="{ABF09B12-F185-4048-75A3-A93F5C470681}"/>
              </a:ext>
            </a:extLst>
          </p:cNvPr>
          <p:cNvSpPr/>
          <p:nvPr/>
        </p:nvSpPr>
        <p:spPr>
          <a:xfrm>
            <a:off x="137160" y="3065633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1" name="Shape 3">
            <a:extLst>
              <a:ext uri="{FF2B5EF4-FFF2-40B4-BE49-F238E27FC236}">
                <a16:creationId xmlns:a16="http://schemas.microsoft.com/office/drawing/2014/main" id="{776C3182-3D94-6524-7F72-F4C0C05F07A5}"/>
              </a:ext>
            </a:extLst>
          </p:cNvPr>
          <p:cNvSpPr/>
          <p:nvPr/>
        </p:nvSpPr>
        <p:spPr>
          <a:xfrm>
            <a:off x="221169" y="3186446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21246C1B-A3A3-AF2D-654F-F154BC43B21E}"/>
              </a:ext>
            </a:extLst>
          </p:cNvPr>
          <p:cNvSpPr/>
          <p:nvPr/>
        </p:nvSpPr>
        <p:spPr>
          <a:xfrm>
            <a:off x="221169" y="31864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F76EB56C-DF9E-FC5A-9B93-E2FA17C67E99}"/>
              </a:ext>
            </a:extLst>
          </p:cNvPr>
          <p:cNvSpPr/>
          <p:nvPr/>
        </p:nvSpPr>
        <p:spPr>
          <a:xfrm>
            <a:off x="660081" y="3067574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 err="1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4" name="Shape 15">
            <a:extLst>
              <a:ext uri="{FF2B5EF4-FFF2-40B4-BE49-F238E27FC236}">
                <a16:creationId xmlns:a16="http://schemas.microsoft.com/office/drawing/2014/main" id="{2043B85F-0C4A-7B9E-C63C-004AD7DF82B9}"/>
              </a:ext>
            </a:extLst>
          </p:cNvPr>
          <p:cNvSpPr/>
          <p:nvPr/>
        </p:nvSpPr>
        <p:spPr>
          <a:xfrm>
            <a:off x="1774283" y="2855321"/>
            <a:ext cx="495631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5" name="Text 16">
            <a:extLst>
              <a:ext uri="{FF2B5EF4-FFF2-40B4-BE49-F238E27FC236}">
                <a16:creationId xmlns:a16="http://schemas.microsoft.com/office/drawing/2014/main" id="{47C7BE07-4969-321B-DEE7-012669639EF8}"/>
              </a:ext>
            </a:extLst>
          </p:cNvPr>
          <p:cNvSpPr/>
          <p:nvPr/>
        </p:nvSpPr>
        <p:spPr>
          <a:xfrm>
            <a:off x="1774283" y="2855321"/>
            <a:ext cx="4956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06" name="Text 17">
            <a:extLst>
              <a:ext uri="{FF2B5EF4-FFF2-40B4-BE49-F238E27FC236}">
                <a16:creationId xmlns:a16="http://schemas.microsoft.com/office/drawing/2014/main" id="{D2DC12CF-5086-FE9B-F00C-39D1B935F5F2}"/>
              </a:ext>
            </a:extLst>
          </p:cNvPr>
          <p:cNvSpPr/>
          <p:nvPr/>
        </p:nvSpPr>
        <p:spPr>
          <a:xfrm>
            <a:off x="2396076" y="2855321"/>
            <a:ext cx="45145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Obrigações da Clínica</a:t>
            </a:r>
            <a:endParaRPr lang="pt-BR" sz="16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6426CF7F-7C5A-3A11-4265-E01DD2BA9EDA}"/>
              </a:ext>
            </a:extLst>
          </p:cNvPr>
          <p:cNvSpPr/>
          <p:nvPr/>
        </p:nvSpPr>
        <p:spPr>
          <a:xfrm>
            <a:off x="1774283" y="3422250"/>
            <a:ext cx="5247229" cy="255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4.1. Agir, bem como seus prepostos, com diligência e prudência na condução das sessões terapêuticas.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4.2. Elaborar parecer evolutivo, quando solicitado — serviço remunerado à parte, conforme valores vigentes, por demandar tempo do profissional técnico responsável pela sua confecção.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4.3. Registrar em prontuário todos os atendimentos e procedimentos, assim como faltas, justificadas ou não, e desistências, prestando todas as informações e esclarecimentos referentes ao serviço prestado.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4.4. Não há promessa nem garantia de resultado. Eventuais exemplos de casos clínicos mencionados durante o atendimento têm caráter meramente explicativo e não representam garantia de resultado.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BF8113C1-50A3-9867-F6F0-5196FF3630A7}"/>
              </a:ext>
            </a:extLst>
          </p:cNvPr>
          <p:cNvSpPr/>
          <p:nvPr/>
        </p:nvSpPr>
        <p:spPr>
          <a:xfrm>
            <a:off x="1774283" y="4656689"/>
            <a:ext cx="5247229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10" name="Shape 2">
            <a:extLst>
              <a:ext uri="{FF2B5EF4-FFF2-40B4-BE49-F238E27FC236}">
                <a16:creationId xmlns:a16="http://schemas.microsoft.com/office/drawing/2014/main" id="{64866059-0581-8705-62E8-7D37A85F2C85}"/>
              </a:ext>
            </a:extLst>
          </p:cNvPr>
          <p:cNvSpPr/>
          <p:nvPr/>
        </p:nvSpPr>
        <p:spPr>
          <a:xfrm>
            <a:off x="137160" y="3697923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11" name="Shape 3">
            <a:extLst>
              <a:ext uri="{FF2B5EF4-FFF2-40B4-BE49-F238E27FC236}">
                <a16:creationId xmlns:a16="http://schemas.microsoft.com/office/drawing/2014/main" id="{D99372E3-070B-00E9-45C4-035D357CBB44}"/>
              </a:ext>
            </a:extLst>
          </p:cNvPr>
          <p:cNvSpPr/>
          <p:nvPr/>
        </p:nvSpPr>
        <p:spPr>
          <a:xfrm>
            <a:off x="221169" y="3818736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744C23B5-C0EF-D428-65D8-75ED934B9354}"/>
              </a:ext>
            </a:extLst>
          </p:cNvPr>
          <p:cNvSpPr/>
          <p:nvPr/>
        </p:nvSpPr>
        <p:spPr>
          <a:xfrm>
            <a:off x="221169" y="3818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113" name="Text 5">
            <a:extLst>
              <a:ext uri="{FF2B5EF4-FFF2-40B4-BE49-F238E27FC236}">
                <a16:creationId xmlns:a16="http://schemas.microsoft.com/office/drawing/2014/main" id="{14AEF6E9-90E6-144E-D272-A3C3E452E647}"/>
              </a:ext>
            </a:extLst>
          </p:cNvPr>
          <p:cNvSpPr/>
          <p:nvPr/>
        </p:nvSpPr>
        <p:spPr>
          <a:xfrm>
            <a:off x="660081" y="3699864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 err="1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14" name="Shape 15">
            <a:extLst>
              <a:ext uri="{FF2B5EF4-FFF2-40B4-BE49-F238E27FC236}">
                <a16:creationId xmlns:a16="http://schemas.microsoft.com/office/drawing/2014/main" id="{21A45CD9-36C0-0769-BC32-67F4EF0EBDB1}"/>
              </a:ext>
            </a:extLst>
          </p:cNvPr>
          <p:cNvSpPr/>
          <p:nvPr/>
        </p:nvSpPr>
        <p:spPr>
          <a:xfrm>
            <a:off x="1774283" y="6305854"/>
            <a:ext cx="495631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15" name="Text 16">
            <a:extLst>
              <a:ext uri="{FF2B5EF4-FFF2-40B4-BE49-F238E27FC236}">
                <a16:creationId xmlns:a16="http://schemas.microsoft.com/office/drawing/2014/main" id="{48BE6E57-75DC-047C-3DB4-8908A05C60B9}"/>
              </a:ext>
            </a:extLst>
          </p:cNvPr>
          <p:cNvSpPr/>
          <p:nvPr/>
        </p:nvSpPr>
        <p:spPr>
          <a:xfrm>
            <a:off x="1774283" y="6305854"/>
            <a:ext cx="4956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16" name="Text 17">
            <a:extLst>
              <a:ext uri="{FF2B5EF4-FFF2-40B4-BE49-F238E27FC236}">
                <a16:creationId xmlns:a16="http://schemas.microsoft.com/office/drawing/2014/main" id="{DC9CD7AB-B8ED-1ED4-F771-492C978A93BD}"/>
              </a:ext>
            </a:extLst>
          </p:cNvPr>
          <p:cNvSpPr/>
          <p:nvPr/>
        </p:nvSpPr>
        <p:spPr>
          <a:xfrm>
            <a:off x="2396076" y="6305854"/>
            <a:ext cx="45145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Obrigações da parte Contratante</a:t>
            </a:r>
            <a:endParaRPr lang="pt-BR" sz="16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B8BFF55D-E35D-DD12-DB06-633BAAD4ACB8}"/>
              </a:ext>
            </a:extLst>
          </p:cNvPr>
          <p:cNvSpPr/>
          <p:nvPr/>
        </p:nvSpPr>
        <p:spPr>
          <a:xfrm>
            <a:off x="1774283" y="6872783"/>
            <a:ext cx="5247229" cy="112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5.1. Efetuar o pagamento pela prestação de serviço à Contratada, conforme estipulado na Cláusula 3ª.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5.2. Fornecer à Contratada todas as informações, documentos, exames, laudos, vídeos, registros e demais elementos necessários para o bom andamento da prestação de serviço, sempre que solicitados.</a:t>
            </a: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AE90B535-4EB0-012B-7525-C44C786584BA}"/>
              </a:ext>
            </a:extLst>
          </p:cNvPr>
          <p:cNvSpPr/>
          <p:nvPr/>
        </p:nvSpPr>
        <p:spPr>
          <a:xfrm>
            <a:off x="1774283" y="8107222"/>
            <a:ext cx="5247229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5B40CAC0-28F0-5B77-83BD-EAB02BF9872E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1" name="Text 19">
            <a:extLst>
              <a:ext uri="{FF2B5EF4-FFF2-40B4-BE49-F238E27FC236}">
                <a16:creationId xmlns:a16="http://schemas.microsoft.com/office/drawing/2014/main" id="{FE734105-7103-F745-4958-17BF904D4342}"/>
              </a:ext>
            </a:extLst>
          </p:cNvPr>
          <p:cNvSpPr/>
          <p:nvPr/>
        </p:nvSpPr>
        <p:spPr>
          <a:xfrm>
            <a:off x="1885219" y="8314779"/>
            <a:ext cx="5025414" cy="849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5.3. Manter válido o contato telefônico indicado, que servirá para o recebimento de informações e mensagens de confirmação das sessões agendadas, devendo confirmá-las no prazo devido, bem como cancelá-las por esse meio quando ocorrer situação fortuita.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22" name="Shape 9">
            <a:extLst>
              <a:ext uri="{FF2B5EF4-FFF2-40B4-BE49-F238E27FC236}">
                <a16:creationId xmlns:a16="http://schemas.microsoft.com/office/drawing/2014/main" id="{4FABEF6A-3B0D-4084-9A07-688F65D24F20}"/>
              </a:ext>
            </a:extLst>
          </p:cNvPr>
          <p:cNvSpPr/>
          <p:nvPr/>
        </p:nvSpPr>
        <p:spPr>
          <a:xfrm>
            <a:off x="137160" y="160179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23" name="Text 10">
            <a:extLst>
              <a:ext uri="{FF2B5EF4-FFF2-40B4-BE49-F238E27FC236}">
                <a16:creationId xmlns:a16="http://schemas.microsoft.com/office/drawing/2014/main" id="{4E1AA72D-018B-F3E6-5F64-457E0835C253}"/>
              </a:ext>
            </a:extLst>
          </p:cNvPr>
          <p:cNvSpPr/>
          <p:nvPr/>
        </p:nvSpPr>
        <p:spPr>
          <a:xfrm>
            <a:off x="137160" y="1601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24" name="Text 11">
            <a:extLst>
              <a:ext uri="{FF2B5EF4-FFF2-40B4-BE49-F238E27FC236}">
                <a16:creationId xmlns:a16="http://schemas.microsoft.com/office/drawing/2014/main" id="{D298FFA7-C035-1E91-E0E4-D4C11A065154}"/>
              </a:ext>
            </a:extLst>
          </p:cNvPr>
          <p:cNvSpPr/>
          <p:nvPr/>
        </p:nvSpPr>
        <p:spPr>
          <a:xfrm>
            <a:off x="512766" y="148292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25" name="Shape 12">
            <a:extLst>
              <a:ext uri="{FF2B5EF4-FFF2-40B4-BE49-F238E27FC236}">
                <a16:creationId xmlns:a16="http://schemas.microsoft.com/office/drawing/2014/main" id="{3027F8F4-83B1-82FE-7E51-6295A5E39325}"/>
              </a:ext>
            </a:extLst>
          </p:cNvPr>
          <p:cNvSpPr/>
          <p:nvPr/>
        </p:nvSpPr>
        <p:spPr>
          <a:xfrm>
            <a:off x="137160" y="209744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26" name="Text 13">
            <a:extLst>
              <a:ext uri="{FF2B5EF4-FFF2-40B4-BE49-F238E27FC236}">
                <a16:creationId xmlns:a16="http://schemas.microsoft.com/office/drawing/2014/main" id="{040B20BE-2E51-A80D-478D-BE8A9C0B9C34}"/>
              </a:ext>
            </a:extLst>
          </p:cNvPr>
          <p:cNvSpPr/>
          <p:nvPr/>
        </p:nvSpPr>
        <p:spPr>
          <a:xfrm>
            <a:off x="137160" y="2097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27" name="Text 14">
            <a:extLst>
              <a:ext uri="{FF2B5EF4-FFF2-40B4-BE49-F238E27FC236}">
                <a16:creationId xmlns:a16="http://schemas.microsoft.com/office/drawing/2014/main" id="{359C7B15-4E0A-016D-38E5-875CF1A75560}"/>
              </a:ext>
            </a:extLst>
          </p:cNvPr>
          <p:cNvSpPr/>
          <p:nvPr/>
        </p:nvSpPr>
        <p:spPr>
          <a:xfrm>
            <a:off x="512766" y="197857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2"/>
          <p:cNvSpPr/>
          <p:nvPr/>
        </p:nvSpPr>
        <p:spPr>
          <a:xfrm>
            <a:off x="2560320" y="6361176"/>
            <a:ext cx="4453128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60320" y="9104376"/>
            <a:ext cx="4453128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200" noProof="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1B5532CB-128A-1337-EDD1-D90FBA46E405}"/>
              </a:ext>
            </a:extLst>
          </p:cNvPr>
          <p:cNvSpPr/>
          <p:nvPr/>
        </p:nvSpPr>
        <p:spPr>
          <a:xfrm>
            <a:off x="1794328" y="103245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7862C1C-D9B8-D4E9-0A8B-52415C51C390}"/>
              </a:ext>
            </a:extLst>
          </p:cNvPr>
          <p:cNvSpPr/>
          <p:nvPr/>
        </p:nvSpPr>
        <p:spPr>
          <a:xfrm>
            <a:off x="1794328" y="10324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2E6591DD-1743-6DE2-78EE-177320501376}"/>
              </a:ext>
            </a:extLst>
          </p:cNvPr>
          <p:cNvSpPr/>
          <p:nvPr/>
        </p:nvSpPr>
        <p:spPr>
          <a:xfrm>
            <a:off x="2416120" y="1032454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Faltas, Remarcações e Horários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6D5E9841-DEB7-E38C-048E-537BCDE170D7}"/>
              </a:ext>
            </a:extLst>
          </p:cNvPr>
          <p:cNvSpPr/>
          <p:nvPr/>
        </p:nvSpPr>
        <p:spPr>
          <a:xfrm>
            <a:off x="1794327" y="1599382"/>
            <a:ext cx="5227185" cy="2174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6.1. Cada terapia terá dia e horário específicos.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6.2. O horário para o início das atividades poderá ser alterado pela Contratada em decorrência de força maior, caso fortuito ou outras situações imprevistas, o que será comunicado em tempo hábil ao Contratante.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6.3. Não será possível estender o horário de atendimento para além do tempo programado, mesmo em caso de atraso do(a) Paciente.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6.4. Em regra, domingos e feriados (nacionais, estaduais e municipais) ficam excluídos da prestação de serviço ora contratada.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475862F-B335-4838-85D8-3E209F85D1E0}"/>
              </a:ext>
            </a:extLst>
          </p:cNvPr>
          <p:cNvSpPr/>
          <p:nvPr/>
        </p:nvSpPr>
        <p:spPr>
          <a:xfrm>
            <a:off x="1794328" y="2187646"/>
            <a:ext cx="4453128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81DECB70-2DDC-A467-8677-D10523489BD5}"/>
              </a:ext>
            </a:extLst>
          </p:cNvPr>
          <p:cNvSpPr/>
          <p:nvPr/>
        </p:nvSpPr>
        <p:spPr>
          <a:xfrm>
            <a:off x="1794328" y="3446470"/>
            <a:ext cx="4453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AE5EC3C-2370-6B6A-4E5D-F22F1CFE9579}"/>
              </a:ext>
            </a:extLst>
          </p:cNvPr>
          <p:cNvSpPr/>
          <p:nvPr/>
        </p:nvSpPr>
        <p:spPr>
          <a:xfrm>
            <a:off x="1794326" y="4030062"/>
            <a:ext cx="5219121" cy="2807708"/>
          </a:xfrm>
          <a:prstGeom prst="roundRect">
            <a:avLst>
              <a:gd name="adj" fmla="val 1731"/>
            </a:avLst>
          </a:prstGeom>
          <a:solidFill>
            <a:srgbClr val="FBEEE1"/>
          </a:solidFill>
          <a:ln w="9525">
            <a:solidFill>
              <a:srgbClr val="E3C7A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060AB815-13A0-C3DB-52C2-9AF9E797192E}"/>
              </a:ext>
            </a:extLst>
          </p:cNvPr>
          <p:cNvSpPr/>
          <p:nvPr/>
        </p:nvSpPr>
        <p:spPr>
          <a:xfrm>
            <a:off x="1977207" y="4212941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CBCC0D0B-18B5-DDCB-E69E-EED6EBCE997F}"/>
              </a:ext>
            </a:extLst>
          </p:cNvPr>
          <p:cNvSpPr/>
          <p:nvPr/>
        </p:nvSpPr>
        <p:spPr>
          <a:xfrm>
            <a:off x="1977207" y="42129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!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4F90F996-5B77-A344-3B77-51AFC0EFF396}"/>
              </a:ext>
            </a:extLst>
          </p:cNvPr>
          <p:cNvSpPr/>
          <p:nvPr/>
        </p:nvSpPr>
        <p:spPr>
          <a:xfrm>
            <a:off x="2452694" y="4249517"/>
            <a:ext cx="4572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60" noProof="0" dirty="0">
                <a:solidFill>
                  <a:srgbClr val="B45309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FALTAS CONSECUTIVAS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21851AD2-E31D-6483-FC61-64C7DFCD06A0}"/>
              </a:ext>
            </a:extLst>
          </p:cNvPr>
          <p:cNvSpPr/>
          <p:nvPr/>
        </p:nvSpPr>
        <p:spPr>
          <a:xfrm>
            <a:off x="1977208" y="4596989"/>
            <a:ext cx="4933390" cy="6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6.5. Havendo mais de duas semanas de faltas consecutivas sem aviso prévio durante o tratamento de uma terapia específica, o(a) Paciente: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E2438F9-EEA9-D0EF-1612-C0B0117A5607}"/>
              </a:ext>
            </a:extLst>
          </p:cNvPr>
          <p:cNvSpPr/>
          <p:nvPr/>
        </p:nvSpPr>
        <p:spPr>
          <a:xfrm>
            <a:off x="1977208" y="5234373"/>
            <a:ext cx="4933390" cy="654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A) Perderá o direito à grade de horário daquela terapia, estabelecida anteriormente, podendo reagendar novos horários dentro dos dias e horários apresentados pela Contratada.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EAB8DEE0-0B2B-5E2D-3889-659B34D516BD}"/>
              </a:ext>
            </a:extLst>
          </p:cNvPr>
          <p:cNvSpPr/>
          <p:nvPr/>
        </p:nvSpPr>
        <p:spPr>
          <a:xfrm>
            <a:off x="1977207" y="6035925"/>
            <a:ext cx="4933390" cy="654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pt-BR" sz="1100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B</a:t>
            </a: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) Poderá configurar abandono de tratamento daquela terapia, caso não haja retorno, eximindo a Clínica e sua equipe de qualquer responsabilidade quanto à evolução terapêutica naquela área.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48EF7013-9166-D6C5-76DC-E45E76B6F7C3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523E95F4-97E7-B197-0EBE-FB6DB79677BE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38BD58FB-264E-7DA7-085D-2D258EF3B836}"/>
              </a:ext>
            </a:extLst>
          </p:cNvPr>
          <p:cNvSpPr/>
          <p:nvPr/>
        </p:nvSpPr>
        <p:spPr>
          <a:xfrm>
            <a:off x="1794326" y="7094118"/>
            <a:ext cx="5219120" cy="1712656"/>
          </a:xfrm>
          <a:prstGeom prst="roundRect">
            <a:avLst>
              <a:gd name="adj" fmla="val 2770"/>
            </a:avLst>
          </a:prstGeom>
          <a:solidFill>
            <a:srgbClr val="EEFFE0"/>
          </a:solidFill>
          <a:ln w="9525">
            <a:solidFill>
              <a:srgbClr val="9BD9AE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525B4D96-9BDF-B2FF-DE84-2465EB30CD44}"/>
              </a:ext>
            </a:extLst>
          </p:cNvPr>
          <p:cNvSpPr/>
          <p:nvPr/>
        </p:nvSpPr>
        <p:spPr>
          <a:xfrm>
            <a:off x="1999577" y="7221877"/>
            <a:ext cx="1828800" cy="2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64CF7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12h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00B8C5C-5CF8-7B44-2D8A-A0F403A6880D}"/>
              </a:ext>
            </a:extLst>
          </p:cNvPr>
          <p:cNvSpPr/>
          <p:nvPr/>
        </p:nvSpPr>
        <p:spPr>
          <a:xfrm>
            <a:off x="1999577" y="7529272"/>
            <a:ext cx="4911020" cy="114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6.6. Em caso de impossibilidade de comparecimento, o Contratante deverá realizar o reagendamento com, no mínimo, 12 (doze) horas de antecedência em relação à data agendada, sob pena de a sessão ser considerada realizada, em razão da disponibilização do profissional, sem direito a reposição ou abatimento de valores.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2C4FEEFF-3C3C-79B8-CCF9-5D253A6386EA}"/>
              </a:ext>
            </a:extLst>
          </p:cNvPr>
          <p:cNvSpPr/>
          <p:nvPr/>
        </p:nvSpPr>
        <p:spPr>
          <a:xfrm>
            <a:off x="1765299" y="8954722"/>
            <a:ext cx="5256213" cy="732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6.7. Fica acordado que não há remarcações de sessões em quantidade indefinida, sendo permitidas, de comum acordo, até 2 remarcações por mês em cada área de terapia. Ultrapassado esse número, o Contratante não fará jus à restituição de quaisquer valores pagos.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6CF2B075-0B2B-6680-DD76-412CDED4AE95}"/>
              </a:ext>
            </a:extLst>
          </p:cNvPr>
          <p:cNvSpPr/>
          <p:nvPr/>
        </p:nvSpPr>
        <p:spPr>
          <a:xfrm>
            <a:off x="1" y="0"/>
            <a:ext cx="1343814" cy="10689336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2" name="Image 0" descr="/tmp/vm/img/logo_color.png">
            <a:extLst>
              <a:ext uri="{FF2B5EF4-FFF2-40B4-BE49-F238E27FC236}">
                <a16:creationId xmlns:a16="http://schemas.microsoft.com/office/drawing/2014/main" id="{0A264527-2B36-9698-6D90-8C25209592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53" name="Shape 1">
            <a:extLst>
              <a:ext uri="{FF2B5EF4-FFF2-40B4-BE49-F238E27FC236}">
                <a16:creationId xmlns:a16="http://schemas.microsoft.com/office/drawing/2014/main" id="{0AC62D71-E6FE-F53B-48C7-B9F4E626095A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1EFA9E03-06F8-D125-0D86-41E132648883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06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55" name="Shape 1">
            <a:extLst>
              <a:ext uri="{FF2B5EF4-FFF2-40B4-BE49-F238E27FC236}">
                <a16:creationId xmlns:a16="http://schemas.microsoft.com/office/drawing/2014/main" id="{DA60C737-A89E-7EDB-4807-C9FC8F8DEE2F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B3CC01BD-2607-0941-2A97-9A5029013E62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AEEEAA0E-29C4-C294-C433-C837610765B1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A9A094DB-EBEE-AF28-D9F5-995713411D8F}"/>
              </a:ext>
            </a:extLst>
          </p:cNvPr>
          <p:cNvSpPr/>
          <p:nvPr/>
        </p:nvSpPr>
        <p:spPr>
          <a:xfrm>
            <a:off x="512766" y="30221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23769CA-A7C4-2E5A-EFAA-061B4369C989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68E8AE90-B11D-4C82-0ABF-3662B3200EC3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2D954C8E-DC18-213D-F6A2-E9516809E1D5}"/>
              </a:ext>
            </a:extLst>
          </p:cNvPr>
          <p:cNvSpPr/>
          <p:nvPr/>
        </p:nvSpPr>
        <p:spPr>
          <a:xfrm>
            <a:off x="512766" y="357872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078BA22E-EA8F-2B3E-8101-A6D0F2DEA3DB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34B8B37F-9453-78E1-BAE1-556D07926641}"/>
              </a:ext>
            </a:extLst>
          </p:cNvPr>
          <p:cNvSpPr/>
          <p:nvPr/>
        </p:nvSpPr>
        <p:spPr>
          <a:xfrm>
            <a:off x="137160" y="4879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094DF373-C9A2-C6DE-5311-C916FB5B3931}"/>
              </a:ext>
            </a:extLst>
          </p:cNvPr>
          <p:cNvSpPr/>
          <p:nvPr/>
        </p:nvSpPr>
        <p:spPr>
          <a:xfrm>
            <a:off x="512766" y="4760528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ABF15488-7EB9-39B1-576D-63B2D14A8D30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C5D79240-5167-C0BB-40C0-1FDA5B958F5E}"/>
              </a:ext>
            </a:extLst>
          </p:cNvPr>
          <p:cNvSpPr/>
          <p:nvPr/>
        </p:nvSpPr>
        <p:spPr>
          <a:xfrm>
            <a:off x="137160" y="5436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E4CF58C0-8C44-235E-7034-D1E3A2D923EA}"/>
              </a:ext>
            </a:extLst>
          </p:cNvPr>
          <p:cNvSpPr/>
          <p:nvPr/>
        </p:nvSpPr>
        <p:spPr>
          <a:xfrm>
            <a:off x="512766" y="531714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2CF89065-888C-0B56-E2D4-64FB0CE2DFA4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5FAB2BB7-6370-2188-E490-924C45D1A5EF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3" name="Text 29">
            <a:extLst>
              <a:ext uri="{FF2B5EF4-FFF2-40B4-BE49-F238E27FC236}">
                <a16:creationId xmlns:a16="http://schemas.microsoft.com/office/drawing/2014/main" id="{29799147-60D2-9AB5-4CE6-6324EC607B94}"/>
              </a:ext>
            </a:extLst>
          </p:cNvPr>
          <p:cNvSpPr/>
          <p:nvPr/>
        </p:nvSpPr>
        <p:spPr>
          <a:xfrm>
            <a:off x="512766" y="5862029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00606A21-094E-6320-1CF6-AC829B1F5702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DB5CC43D-0628-13FC-C0B3-C6F178A9691F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A830C14A-1ACD-1B42-0377-07D678AAD237}"/>
              </a:ext>
            </a:extLst>
          </p:cNvPr>
          <p:cNvSpPr/>
          <p:nvPr/>
        </p:nvSpPr>
        <p:spPr>
          <a:xfrm>
            <a:off x="512766" y="6418641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8BB18813-D6F7-9DC1-D55E-FBDEC0C1CEF6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980DD59F-B1E9-E3E4-38FC-37E5146A3644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3850FB2F-19D3-69C1-1EB6-91A929E19A01}"/>
              </a:ext>
            </a:extLst>
          </p:cNvPr>
          <p:cNvSpPr/>
          <p:nvPr/>
        </p:nvSpPr>
        <p:spPr>
          <a:xfrm>
            <a:off x="512766" y="697525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0" name="Shape 36">
            <a:extLst>
              <a:ext uri="{FF2B5EF4-FFF2-40B4-BE49-F238E27FC236}">
                <a16:creationId xmlns:a16="http://schemas.microsoft.com/office/drawing/2014/main" id="{53A97DF1-9D7F-F574-A29F-953E7216E951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1" name="Text 37">
            <a:extLst>
              <a:ext uri="{FF2B5EF4-FFF2-40B4-BE49-F238E27FC236}">
                <a16:creationId xmlns:a16="http://schemas.microsoft.com/office/drawing/2014/main" id="{0771467E-6C96-5E06-398C-61BB4DA48BE7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86DC47CE-FD2C-151B-BB8D-47B2CB563919}"/>
              </a:ext>
            </a:extLst>
          </p:cNvPr>
          <p:cNvSpPr/>
          <p:nvPr/>
        </p:nvSpPr>
        <p:spPr>
          <a:xfrm>
            <a:off x="512766" y="753186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3" name="Shape 9">
            <a:extLst>
              <a:ext uri="{FF2B5EF4-FFF2-40B4-BE49-F238E27FC236}">
                <a16:creationId xmlns:a16="http://schemas.microsoft.com/office/drawing/2014/main" id="{80B1A3DB-5762-2A8B-52A6-6D6C66CB302C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4" name="Text 10">
            <a:extLst>
              <a:ext uri="{FF2B5EF4-FFF2-40B4-BE49-F238E27FC236}">
                <a16:creationId xmlns:a16="http://schemas.microsoft.com/office/drawing/2014/main" id="{6B230FDC-1F11-1981-4890-0CF2B53F5F3B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CDB6DBBD-0CF9-76B3-F16D-801BD410CAE7}"/>
              </a:ext>
            </a:extLst>
          </p:cNvPr>
          <p:cNvSpPr/>
          <p:nvPr/>
        </p:nvSpPr>
        <p:spPr>
          <a:xfrm>
            <a:off x="512766" y="146006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6" name="Shape 12">
            <a:extLst>
              <a:ext uri="{FF2B5EF4-FFF2-40B4-BE49-F238E27FC236}">
                <a16:creationId xmlns:a16="http://schemas.microsoft.com/office/drawing/2014/main" id="{E5F337BD-4854-4E11-E67A-085CC1A850A3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AEC9FE99-2E4C-5921-BF28-FBE4BFCB9862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D617DFA3-A461-F21A-ED55-26384A984620}"/>
              </a:ext>
            </a:extLst>
          </p:cNvPr>
          <p:cNvSpPr/>
          <p:nvPr/>
        </p:nvSpPr>
        <p:spPr>
          <a:xfrm>
            <a:off x="512766" y="19557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3" name="Shape 2">
            <a:extLst>
              <a:ext uri="{FF2B5EF4-FFF2-40B4-BE49-F238E27FC236}">
                <a16:creationId xmlns:a16="http://schemas.microsoft.com/office/drawing/2014/main" id="{CD56D723-9493-D5CF-AB16-9D7F363C44A5}"/>
              </a:ext>
            </a:extLst>
          </p:cNvPr>
          <p:cNvSpPr/>
          <p:nvPr/>
        </p:nvSpPr>
        <p:spPr>
          <a:xfrm>
            <a:off x="137160" y="4230353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4" name="Shape 3">
            <a:extLst>
              <a:ext uri="{FF2B5EF4-FFF2-40B4-BE49-F238E27FC236}">
                <a16:creationId xmlns:a16="http://schemas.microsoft.com/office/drawing/2014/main" id="{545685D6-04A2-919C-C60E-ED3EBC58A22A}"/>
              </a:ext>
            </a:extLst>
          </p:cNvPr>
          <p:cNvSpPr/>
          <p:nvPr/>
        </p:nvSpPr>
        <p:spPr>
          <a:xfrm>
            <a:off x="221169" y="4351166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5" name="Text 4">
            <a:extLst>
              <a:ext uri="{FF2B5EF4-FFF2-40B4-BE49-F238E27FC236}">
                <a16:creationId xmlns:a16="http://schemas.microsoft.com/office/drawing/2014/main" id="{E319C959-E1D5-D6DD-73F2-F8D2E58B1183}"/>
              </a:ext>
            </a:extLst>
          </p:cNvPr>
          <p:cNvSpPr/>
          <p:nvPr/>
        </p:nvSpPr>
        <p:spPr>
          <a:xfrm>
            <a:off x="221169" y="43511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D375A01E-2CDB-1B09-B606-3E32864890C4}"/>
              </a:ext>
            </a:extLst>
          </p:cNvPr>
          <p:cNvSpPr/>
          <p:nvPr/>
        </p:nvSpPr>
        <p:spPr>
          <a:xfrm>
            <a:off x="660081" y="4232294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7" name="Shape 15">
            <a:extLst>
              <a:ext uri="{FF2B5EF4-FFF2-40B4-BE49-F238E27FC236}">
                <a16:creationId xmlns:a16="http://schemas.microsoft.com/office/drawing/2014/main" id="{1418E957-B636-F0CA-F337-FE0FEB8D9BB3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CCD82CAD-7760-7977-102B-B1CD292204C7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9" name="Text 17">
            <a:extLst>
              <a:ext uri="{FF2B5EF4-FFF2-40B4-BE49-F238E27FC236}">
                <a16:creationId xmlns:a16="http://schemas.microsoft.com/office/drawing/2014/main" id="{1A1CEBC3-8E65-64C0-B626-11D9AE947DB9}"/>
              </a:ext>
            </a:extLst>
          </p:cNvPr>
          <p:cNvSpPr/>
          <p:nvPr/>
        </p:nvSpPr>
        <p:spPr>
          <a:xfrm>
            <a:off x="512766" y="24273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1"/>
          <p:cNvSpPr/>
          <p:nvPr/>
        </p:nvSpPr>
        <p:spPr>
          <a:xfrm>
            <a:off x="2560320" y="658368"/>
            <a:ext cx="44531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endParaRPr lang="pt-BR" sz="1200" noProof="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49942B47-1A57-633F-0990-F55E5FAA9C29}"/>
              </a:ext>
            </a:extLst>
          </p:cNvPr>
          <p:cNvSpPr/>
          <p:nvPr/>
        </p:nvSpPr>
        <p:spPr>
          <a:xfrm>
            <a:off x="1" y="0"/>
            <a:ext cx="1343814" cy="10689336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0" descr="/tmp/vm/img/logo_color.png">
            <a:extLst>
              <a:ext uri="{FF2B5EF4-FFF2-40B4-BE49-F238E27FC236}">
                <a16:creationId xmlns:a16="http://schemas.microsoft.com/office/drawing/2014/main" id="{FBC9782B-CFC6-4752-3085-FE843D65C4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24" name="Shape 1">
            <a:extLst>
              <a:ext uri="{FF2B5EF4-FFF2-40B4-BE49-F238E27FC236}">
                <a16:creationId xmlns:a16="http://schemas.microsoft.com/office/drawing/2014/main" id="{5908F64C-BF5A-9E39-C05B-2BF98DE978EE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89E5C5C-30C6-FC89-0BD3-B7D57ECFF59B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07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B7645372-5211-9FDC-1FC0-0E8F31572030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B1DD3CD-CA30-E219-7831-E5A790B544BF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10956E1A-D11C-68F3-FEFB-DDE7FA493666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F200A14-001C-7203-89CB-CB73F6A331DF}"/>
              </a:ext>
            </a:extLst>
          </p:cNvPr>
          <p:cNvSpPr/>
          <p:nvPr/>
        </p:nvSpPr>
        <p:spPr>
          <a:xfrm>
            <a:off x="512766" y="30221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CFFE55F-C444-9E03-A05C-BEC7D0EDACC8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7552F42-11E9-1253-C225-8D18B746318E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4CC78E82-C5F9-56AE-7B17-D503FDCED896}"/>
              </a:ext>
            </a:extLst>
          </p:cNvPr>
          <p:cNvSpPr/>
          <p:nvPr/>
        </p:nvSpPr>
        <p:spPr>
          <a:xfrm>
            <a:off x="512766" y="357872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DF8454F4-C2F0-5AF4-8D1A-08B08AB1E5CA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93BC4038-8106-FE71-2A6E-8DB4AC405879}"/>
              </a:ext>
            </a:extLst>
          </p:cNvPr>
          <p:cNvSpPr/>
          <p:nvPr/>
        </p:nvSpPr>
        <p:spPr>
          <a:xfrm>
            <a:off x="137160" y="59809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BA298185-0A28-A1AB-A487-DFEE28B38EC5}"/>
              </a:ext>
            </a:extLst>
          </p:cNvPr>
          <p:cNvSpPr/>
          <p:nvPr/>
        </p:nvSpPr>
        <p:spPr>
          <a:xfrm>
            <a:off x="512766" y="5862029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5CB7A6D1-F5C1-3927-1D94-A71D1D8F21B5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00D1C875-D4A8-8E36-40D8-21D4FF98264F}"/>
              </a:ext>
            </a:extLst>
          </p:cNvPr>
          <p:cNvSpPr/>
          <p:nvPr/>
        </p:nvSpPr>
        <p:spPr>
          <a:xfrm>
            <a:off x="137160" y="6537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79828CFE-4C57-859A-58BA-FE52E02866B3}"/>
              </a:ext>
            </a:extLst>
          </p:cNvPr>
          <p:cNvSpPr/>
          <p:nvPr/>
        </p:nvSpPr>
        <p:spPr>
          <a:xfrm>
            <a:off x="512766" y="6418641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37263C9A-EEE6-C562-402C-EC38A066BA89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A94EE02C-56B8-13F0-D0BF-A370545E44DB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078446C6-C7AF-A578-84EF-30E9951583DF}"/>
              </a:ext>
            </a:extLst>
          </p:cNvPr>
          <p:cNvSpPr/>
          <p:nvPr/>
        </p:nvSpPr>
        <p:spPr>
          <a:xfrm>
            <a:off x="512766" y="697525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48" name="Shape 36">
            <a:extLst>
              <a:ext uri="{FF2B5EF4-FFF2-40B4-BE49-F238E27FC236}">
                <a16:creationId xmlns:a16="http://schemas.microsoft.com/office/drawing/2014/main" id="{E0219DE3-AD8E-8990-B769-DEAF6C7383EF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FB00D63E-9C16-0EB1-8466-79A9E45221F9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687F7BE6-CCDC-A52F-036D-F35E948455B1}"/>
              </a:ext>
            </a:extLst>
          </p:cNvPr>
          <p:cNvSpPr/>
          <p:nvPr/>
        </p:nvSpPr>
        <p:spPr>
          <a:xfrm>
            <a:off x="512766" y="753186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9FDE275F-78ED-0CA0-1616-BC6BCDB83A84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FAE41619-4C20-1344-6B30-B4A7D5ADD3D9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B64BA723-35B4-3108-A4D5-F1894078B39D}"/>
              </a:ext>
            </a:extLst>
          </p:cNvPr>
          <p:cNvSpPr/>
          <p:nvPr/>
        </p:nvSpPr>
        <p:spPr>
          <a:xfrm>
            <a:off x="512766" y="146006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1A336385-7621-B866-1BCC-BE683D2D0793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31065CEC-40F9-D660-73C2-79398D67A081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284BECF9-3BD4-CF29-DE11-06C0511980D6}"/>
              </a:ext>
            </a:extLst>
          </p:cNvPr>
          <p:cNvSpPr/>
          <p:nvPr/>
        </p:nvSpPr>
        <p:spPr>
          <a:xfrm>
            <a:off x="512766" y="19557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B4602ADB-0848-C717-032F-E0E01893698C}"/>
              </a:ext>
            </a:extLst>
          </p:cNvPr>
          <p:cNvSpPr/>
          <p:nvPr/>
        </p:nvSpPr>
        <p:spPr>
          <a:xfrm>
            <a:off x="137160" y="4701844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9251B698-76E8-A465-0B8D-E9201F3D0576}"/>
              </a:ext>
            </a:extLst>
          </p:cNvPr>
          <p:cNvSpPr/>
          <p:nvPr/>
        </p:nvSpPr>
        <p:spPr>
          <a:xfrm>
            <a:off x="221169" y="4822657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330C85EA-8300-48E6-77BA-52B6AE0C13D1}"/>
              </a:ext>
            </a:extLst>
          </p:cNvPr>
          <p:cNvSpPr/>
          <p:nvPr/>
        </p:nvSpPr>
        <p:spPr>
          <a:xfrm>
            <a:off x="221169" y="48226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CB15B83A-6865-C813-569D-470736390B8B}"/>
              </a:ext>
            </a:extLst>
          </p:cNvPr>
          <p:cNvSpPr/>
          <p:nvPr/>
        </p:nvSpPr>
        <p:spPr>
          <a:xfrm>
            <a:off x="660081" y="4703785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00109775-D74E-C9B3-C1AC-FBFE77DE1C6E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3DCA769A-452E-5C21-25F7-67F0216D5A80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4DFBC6F9-D535-0D3A-B05D-2B49CD1F7828}"/>
              </a:ext>
            </a:extLst>
          </p:cNvPr>
          <p:cNvSpPr/>
          <p:nvPr/>
        </p:nvSpPr>
        <p:spPr>
          <a:xfrm>
            <a:off x="512766" y="24273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3320C5EB-200F-15F2-A50A-CF6E919A0478}"/>
              </a:ext>
            </a:extLst>
          </p:cNvPr>
          <p:cNvSpPr/>
          <p:nvPr/>
        </p:nvSpPr>
        <p:spPr>
          <a:xfrm>
            <a:off x="1765300" y="10260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34A7F78A-9BEC-5A76-1DC8-D12C10B0DD5F}"/>
              </a:ext>
            </a:extLst>
          </p:cNvPr>
          <p:cNvSpPr/>
          <p:nvPr/>
        </p:nvSpPr>
        <p:spPr>
          <a:xfrm>
            <a:off x="1765300" y="1026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A0881435-70F6-2EB3-B991-D03A3851C426}"/>
              </a:ext>
            </a:extLst>
          </p:cNvPr>
          <p:cNvSpPr/>
          <p:nvPr/>
        </p:nvSpPr>
        <p:spPr>
          <a:xfrm>
            <a:off x="2387092" y="1026052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 e Confidencialidade</a:t>
            </a:r>
            <a:endParaRPr lang="pt-BR" sz="16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9343478F-44D1-DA30-5A63-06F138D8BAA6}"/>
              </a:ext>
            </a:extLst>
          </p:cNvPr>
          <p:cNvSpPr/>
          <p:nvPr/>
        </p:nvSpPr>
        <p:spPr>
          <a:xfrm>
            <a:off x="1765300" y="1739284"/>
            <a:ext cx="5248148" cy="2388080"/>
          </a:xfrm>
          <a:prstGeom prst="roundRect">
            <a:avLst>
              <a:gd name="adj" fmla="val 1753"/>
            </a:avLst>
          </a:prstGeom>
          <a:solidFill>
            <a:srgbClr val="EEFFE0"/>
          </a:solidFill>
          <a:ln w="9525">
            <a:solidFill>
              <a:srgbClr val="9BD9AE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pic>
        <p:nvPicPr>
          <p:cNvPr id="68" name="Image 1" descr="/tmp/vm/img/sym_color.png">
            <a:extLst>
              <a:ext uri="{FF2B5EF4-FFF2-40B4-BE49-F238E27FC236}">
                <a16:creationId xmlns:a16="http://schemas.microsoft.com/office/drawing/2014/main" id="{A2AFD890-A43C-1DD2-3E75-5D6722A1A30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5000"/>
          </a:blip>
          <a:srcRect t="9358" r="50000"/>
          <a:stretch>
            <a:fillRect/>
          </a:stretch>
        </p:blipFill>
        <p:spPr>
          <a:xfrm>
            <a:off x="5771233" y="1828755"/>
            <a:ext cx="1250280" cy="2266569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329676CC-6F15-0098-F4B8-156BD335C265}"/>
              </a:ext>
            </a:extLst>
          </p:cNvPr>
          <p:cNvSpPr/>
          <p:nvPr/>
        </p:nvSpPr>
        <p:spPr>
          <a:xfrm>
            <a:off x="1933955" y="1920098"/>
            <a:ext cx="3708964" cy="209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 terapia se fundamenta em uma relação de confiança entre profissional e Paciente, na qual os conteúdos trabalhados são resguardados pela ética profissional, que orienta, dentre outras coisas, o sigilo profissional.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Toda e qualquer informação referente ao(à) Paciente fornecida ao profissional deverá ser mantida em confidencialidade, exceto nos casos previstos em lei e/ou quando expressamente autorizado pelo Contratante.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6BD8530F-10B7-CE14-30BC-3625529B4823}"/>
              </a:ext>
            </a:extLst>
          </p:cNvPr>
          <p:cNvSpPr/>
          <p:nvPr/>
        </p:nvSpPr>
        <p:spPr>
          <a:xfrm>
            <a:off x="2131060" y="3781698"/>
            <a:ext cx="2852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1" name="Shape 20">
            <a:extLst>
              <a:ext uri="{FF2B5EF4-FFF2-40B4-BE49-F238E27FC236}">
                <a16:creationId xmlns:a16="http://schemas.microsoft.com/office/drawing/2014/main" id="{E383B225-C8D6-BDC8-3D29-44C12884336B}"/>
              </a:ext>
            </a:extLst>
          </p:cNvPr>
          <p:cNvSpPr/>
          <p:nvPr/>
        </p:nvSpPr>
        <p:spPr>
          <a:xfrm>
            <a:off x="1765300" y="448296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0509BB0F-CDE1-5E74-4761-4DC0E755ED77}"/>
              </a:ext>
            </a:extLst>
          </p:cNvPr>
          <p:cNvSpPr/>
          <p:nvPr/>
        </p:nvSpPr>
        <p:spPr>
          <a:xfrm>
            <a:off x="1765300" y="448296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CBCC84CC-F5E7-7458-4D32-5FF9B3F19E4F}"/>
              </a:ext>
            </a:extLst>
          </p:cNvPr>
          <p:cNvSpPr/>
          <p:nvPr/>
        </p:nvSpPr>
        <p:spPr>
          <a:xfrm>
            <a:off x="2387091" y="4482962"/>
            <a:ext cx="46344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Vigência, Rescisão e Inadimplemento</a:t>
            </a:r>
            <a:endParaRPr lang="pt-BR" sz="16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989715FB-C2B5-1E7F-6ED3-4C37022FD940}"/>
              </a:ext>
            </a:extLst>
          </p:cNvPr>
          <p:cNvSpPr/>
          <p:nvPr/>
        </p:nvSpPr>
        <p:spPr>
          <a:xfrm>
            <a:off x="1765299" y="5113814"/>
            <a:ext cx="5248147" cy="321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8.1. O presente contrato vigorará do primeiro atendimento até a data do término da prestação de serviço.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8.2. O presente contrato poderá ser extinto de comum acordo entre as partes, a qualquer tempo.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8.3. Caso uma das partes pretenda a extinção do contrato, deverá notificar a outra com 15 (quinze) dias de antecedência.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</a:rPr>
              <a:t>8.4. O inadimplemento importará na rescisão deste contrato, a critério da Contratada, independentemente de interpelação judicial ou extrajudicial, sujeitando-se o Contratante ao pagamento integral dos honorários previstos, acrescido de multa de </a:t>
            </a:r>
            <a:r>
              <a:rPr lang="pt-BR" sz="1100" b="1" noProof="0" dirty="0">
                <a:solidFill>
                  <a:srgbClr val="012E4B"/>
                </a:solidFill>
                <a:latin typeface="Montserrat" pitchFamily="2" charset="77"/>
              </a:rPr>
              <a:t>2%, juros de 1%</a:t>
            </a: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</a:rPr>
              <a:t> ao mês e atualização monetária pelo </a:t>
            </a:r>
            <a:r>
              <a:rPr lang="pt-BR" sz="1100" b="1" noProof="0" dirty="0">
                <a:solidFill>
                  <a:srgbClr val="012E4B"/>
                </a:solidFill>
                <a:latin typeface="Montserrat" pitchFamily="2" charset="77"/>
              </a:rPr>
              <a:t>IGP-M</a:t>
            </a: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</a:rPr>
              <a:t>8.5. Em caso de inadimplência, se o atraso for superior a 30 (trinta) dias da data do respectivo vencimento, a Contratada poderá, gradativa, alternativa ou cumulativamente:</a:t>
            </a: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1C6360AF-371A-8C54-853F-397FBF9A33BC}"/>
              </a:ext>
            </a:extLst>
          </p:cNvPr>
          <p:cNvSpPr/>
          <p:nvPr/>
        </p:nvSpPr>
        <p:spPr>
          <a:xfrm>
            <a:off x="1765300" y="5842370"/>
            <a:ext cx="445312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6D6A0894-2353-DE35-4998-B46DC87A6C3D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56785BC4-E1CA-C306-3846-3F62D7682938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C925822B-7107-CA5F-3FEE-486A556C1090}"/>
              </a:ext>
            </a:extLst>
          </p:cNvPr>
          <p:cNvSpPr/>
          <p:nvPr/>
        </p:nvSpPr>
        <p:spPr>
          <a:xfrm>
            <a:off x="1765299" y="8571889"/>
            <a:ext cx="5256213" cy="526311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77E932CB-3BFB-8239-4CFE-8A625337AD72}"/>
              </a:ext>
            </a:extLst>
          </p:cNvPr>
          <p:cNvSpPr/>
          <p:nvPr/>
        </p:nvSpPr>
        <p:spPr>
          <a:xfrm>
            <a:off x="1929892" y="8688739"/>
            <a:ext cx="310896" cy="310896"/>
          </a:xfrm>
          <a:prstGeom prst="ellipse">
            <a:avLst/>
          </a:prstGeom>
          <a:solidFill>
            <a:srgbClr val="EEFFE0"/>
          </a:solidFill>
          <a:ln>
            <a:solidFill>
              <a:srgbClr val="EEFFE0"/>
            </a:solidFill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76F58137-3B09-E5A8-C9E8-F09930387B6F}"/>
              </a:ext>
            </a:extLst>
          </p:cNvPr>
          <p:cNvSpPr/>
          <p:nvPr/>
        </p:nvSpPr>
        <p:spPr>
          <a:xfrm>
            <a:off x="1929892" y="86887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34A19C35-C59F-F454-C6C0-147A30DD524F}"/>
              </a:ext>
            </a:extLst>
          </p:cNvPr>
          <p:cNvSpPr/>
          <p:nvPr/>
        </p:nvSpPr>
        <p:spPr>
          <a:xfrm>
            <a:off x="2387091" y="8638441"/>
            <a:ext cx="4592575" cy="41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Negativar, após prévio aviso, o devedor em cadastros de proteção ao crédito legalmente constituídos.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86C72B3E-5EFA-8771-5FB3-8B962B1CC3CE}"/>
              </a:ext>
            </a:extLst>
          </p:cNvPr>
          <p:cNvSpPr/>
          <p:nvPr/>
        </p:nvSpPr>
        <p:spPr>
          <a:xfrm>
            <a:off x="1765299" y="9185677"/>
            <a:ext cx="5256213" cy="581312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785449E2-96DE-FB67-CD48-4B2089F51CBD}"/>
              </a:ext>
            </a:extLst>
          </p:cNvPr>
          <p:cNvSpPr/>
          <p:nvPr/>
        </p:nvSpPr>
        <p:spPr>
          <a:xfrm>
            <a:off x="1929892" y="9343717"/>
            <a:ext cx="310896" cy="310896"/>
          </a:xfrm>
          <a:prstGeom prst="ellipse">
            <a:avLst/>
          </a:prstGeom>
          <a:solidFill>
            <a:srgbClr val="EEFFE0"/>
          </a:solidFill>
          <a:ln>
            <a:solidFill>
              <a:srgbClr val="EEFFE0"/>
            </a:solidFill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02D4B4D8-25AA-4777-BFB1-E457BCF3C82B}"/>
              </a:ext>
            </a:extLst>
          </p:cNvPr>
          <p:cNvSpPr/>
          <p:nvPr/>
        </p:nvSpPr>
        <p:spPr>
          <a:xfrm>
            <a:off x="1929892" y="93437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B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6" name="Text 20">
            <a:extLst>
              <a:ext uri="{FF2B5EF4-FFF2-40B4-BE49-F238E27FC236}">
                <a16:creationId xmlns:a16="http://schemas.microsoft.com/office/drawing/2014/main" id="{00F1C760-3930-615D-C91A-27BB9CF3749E}"/>
              </a:ext>
            </a:extLst>
          </p:cNvPr>
          <p:cNvSpPr/>
          <p:nvPr/>
        </p:nvSpPr>
        <p:spPr>
          <a:xfrm>
            <a:off x="2387091" y="9297244"/>
            <a:ext cx="4592575" cy="403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Promover o protesto da dívida, mediante emissão de duplicata de serviços, letra de câmbio ou outro título de crédito.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87" name="Shape 2">
            <a:extLst>
              <a:ext uri="{FF2B5EF4-FFF2-40B4-BE49-F238E27FC236}">
                <a16:creationId xmlns:a16="http://schemas.microsoft.com/office/drawing/2014/main" id="{F41AC243-3C89-AEC7-F853-7B9F5C8BD191}"/>
              </a:ext>
            </a:extLst>
          </p:cNvPr>
          <p:cNvSpPr/>
          <p:nvPr/>
        </p:nvSpPr>
        <p:spPr>
          <a:xfrm>
            <a:off x="137160" y="5317781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8" name="Shape 3">
            <a:extLst>
              <a:ext uri="{FF2B5EF4-FFF2-40B4-BE49-F238E27FC236}">
                <a16:creationId xmlns:a16="http://schemas.microsoft.com/office/drawing/2014/main" id="{C24C59E9-AE8A-DFC0-0AE7-E46A5A0D0652}"/>
              </a:ext>
            </a:extLst>
          </p:cNvPr>
          <p:cNvSpPr/>
          <p:nvPr/>
        </p:nvSpPr>
        <p:spPr>
          <a:xfrm>
            <a:off x="221169" y="5438594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9" name="Text 4">
            <a:extLst>
              <a:ext uri="{FF2B5EF4-FFF2-40B4-BE49-F238E27FC236}">
                <a16:creationId xmlns:a16="http://schemas.microsoft.com/office/drawing/2014/main" id="{74D161BC-A893-9B0E-F428-59650242505B}"/>
              </a:ext>
            </a:extLst>
          </p:cNvPr>
          <p:cNvSpPr/>
          <p:nvPr/>
        </p:nvSpPr>
        <p:spPr>
          <a:xfrm>
            <a:off x="221169" y="54385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1E4ED160-E2B9-CBCF-FB54-B2A2DAEEAA47}"/>
              </a:ext>
            </a:extLst>
          </p:cNvPr>
          <p:cNvSpPr/>
          <p:nvPr/>
        </p:nvSpPr>
        <p:spPr>
          <a:xfrm>
            <a:off x="660081" y="5319722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1" name="Shape 12">
            <a:extLst>
              <a:ext uri="{FF2B5EF4-FFF2-40B4-BE49-F238E27FC236}">
                <a16:creationId xmlns:a16="http://schemas.microsoft.com/office/drawing/2014/main" id="{708A358F-9109-DD92-5235-6D291A0F4F1D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4795E989-2F5E-C86C-0820-54FFBDD3C49D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3" name="Text 14">
            <a:extLst>
              <a:ext uri="{FF2B5EF4-FFF2-40B4-BE49-F238E27FC236}">
                <a16:creationId xmlns:a16="http://schemas.microsoft.com/office/drawing/2014/main" id="{BFDB576A-611A-B0F9-DBBF-476295876574}"/>
              </a:ext>
            </a:extLst>
          </p:cNvPr>
          <p:cNvSpPr/>
          <p:nvPr/>
        </p:nvSpPr>
        <p:spPr>
          <a:xfrm>
            <a:off x="512766" y="412992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1">
            <a:extLst>
              <a:ext uri="{FF2B5EF4-FFF2-40B4-BE49-F238E27FC236}">
                <a16:creationId xmlns:a16="http://schemas.microsoft.com/office/drawing/2014/main" id="{5AD3D492-3BFB-359B-BEA4-EAC50686200E}"/>
              </a:ext>
            </a:extLst>
          </p:cNvPr>
          <p:cNvSpPr/>
          <p:nvPr/>
        </p:nvSpPr>
        <p:spPr>
          <a:xfrm>
            <a:off x="1765299" y="1066009"/>
            <a:ext cx="5256213" cy="584200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61DC4E51-8CF7-645F-7C92-97D97A8144EC}"/>
              </a:ext>
            </a:extLst>
          </p:cNvPr>
          <p:cNvSpPr/>
          <p:nvPr/>
        </p:nvSpPr>
        <p:spPr>
          <a:xfrm>
            <a:off x="1929892" y="1194893"/>
            <a:ext cx="310896" cy="310896"/>
          </a:xfrm>
          <a:prstGeom prst="ellipse">
            <a:avLst/>
          </a:prstGeom>
          <a:solidFill>
            <a:srgbClr val="EEFFE0"/>
          </a:solidFill>
          <a:ln>
            <a:solidFill>
              <a:srgbClr val="EEFFE0"/>
            </a:solidFill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4D72C0C0-B13D-D2AA-FED2-B9ADECB54C28}"/>
              </a:ext>
            </a:extLst>
          </p:cNvPr>
          <p:cNvSpPr/>
          <p:nvPr/>
        </p:nvSpPr>
        <p:spPr>
          <a:xfrm>
            <a:off x="1929892" y="11948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478E461A-9D2C-C2B2-C3DD-68811E190382}"/>
              </a:ext>
            </a:extLst>
          </p:cNvPr>
          <p:cNvSpPr/>
          <p:nvPr/>
        </p:nvSpPr>
        <p:spPr>
          <a:xfrm>
            <a:off x="2387091" y="1044017"/>
            <a:ext cx="463442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Proceder à cobrança administrativa e/ou judicial, hipótese em que incidirão honorários advocatícios de 20% (vinte por cento).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1D31B015-D154-CEDA-4B58-91817773A3E1}"/>
              </a:ext>
            </a:extLst>
          </p:cNvPr>
          <p:cNvSpPr/>
          <p:nvPr/>
        </p:nvSpPr>
        <p:spPr>
          <a:xfrm>
            <a:off x="1765299" y="1802425"/>
            <a:ext cx="5256213" cy="584200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092C2EEE-D3B5-70CD-95FB-3E594B4502D1}"/>
              </a:ext>
            </a:extLst>
          </p:cNvPr>
          <p:cNvSpPr/>
          <p:nvPr/>
        </p:nvSpPr>
        <p:spPr>
          <a:xfrm>
            <a:off x="1929892" y="1911551"/>
            <a:ext cx="310896" cy="310896"/>
          </a:xfrm>
          <a:prstGeom prst="ellipse">
            <a:avLst/>
          </a:prstGeom>
          <a:solidFill>
            <a:srgbClr val="EEFFE0"/>
          </a:solidFill>
          <a:ln>
            <a:solidFill>
              <a:srgbClr val="EEFFE0"/>
            </a:solidFill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ECF6A4A3-89DF-CECD-3255-1616C7A84F92}"/>
              </a:ext>
            </a:extLst>
          </p:cNvPr>
          <p:cNvSpPr/>
          <p:nvPr/>
        </p:nvSpPr>
        <p:spPr>
          <a:xfrm>
            <a:off x="1929892" y="19115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 err="1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062553AF-6096-4FC0-9523-6C0FC69F5BC5}"/>
              </a:ext>
            </a:extLst>
          </p:cNvPr>
          <p:cNvSpPr/>
          <p:nvPr/>
        </p:nvSpPr>
        <p:spPr>
          <a:xfrm>
            <a:off x="2387091" y="1760675"/>
            <a:ext cx="463442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Suspender os serviços daquela terapia específica que não estiver devida e corretamente paga.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7735BF97-60D1-4498-0B64-C1C0B4606744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7E98ABDE-FE80-0804-0AB5-9A307D4DF8A4}"/>
              </a:ext>
            </a:extLst>
          </p:cNvPr>
          <p:cNvSpPr/>
          <p:nvPr/>
        </p:nvSpPr>
        <p:spPr>
          <a:xfrm>
            <a:off x="1765300" y="27571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noProof="0" dirty="0">
              <a:latin typeface="Montserrat" pitchFamily="2" charset="77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2845503A-8AA3-76D1-CAD1-9CA03E47249B}"/>
              </a:ext>
            </a:extLst>
          </p:cNvPr>
          <p:cNvSpPr/>
          <p:nvPr/>
        </p:nvSpPr>
        <p:spPr>
          <a:xfrm>
            <a:off x="1765300" y="27571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A8DE064D-D351-488E-AA44-BF972303892C}"/>
              </a:ext>
            </a:extLst>
          </p:cNvPr>
          <p:cNvSpPr/>
          <p:nvPr/>
        </p:nvSpPr>
        <p:spPr>
          <a:xfrm>
            <a:off x="2387092" y="2757196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Cancelamentos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C57889C3-F906-86E3-300F-C747BAA6EFCC}"/>
              </a:ext>
            </a:extLst>
          </p:cNvPr>
          <p:cNvSpPr/>
          <p:nvPr/>
        </p:nvSpPr>
        <p:spPr>
          <a:xfrm>
            <a:off x="1765300" y="3354817"/>
            <a:ext cx="5256212" cy="1510320"/>
          </a:xfrm>
          <a:prstGeom prst="roundRect">
            <a:avLst>
              <a:gd name="adj" fmla="val 3182"/>
            </a:avLst>
          </a:prstGeom>
          <a:solidFill>
            <a:srgbClr val="FBEEE1"/>
          </a:solidFill>
          <a:ln w="9525">
            <a:solidFill>
              <a:srgbClr val="E3C7A8"/>
            </a:solidFill>
            <a:prstDash val="solid"/>
          </a:ln>
          <a:effectLst>
            <a:outerShdw blurRad="76200" dist="25400" dir="5400000" algn="bl" rotWithShape="0">
              <a:srgbClr val="022E4B">
                <a:alpha val="8000"/>
              </a:srgbClr>
            </a:outerShdw>
          </a:effectLst>
        </p:spPr>
        <p:txBody>
          <a:bodyPr/>
          <a:lstStyle/>
          <a:p>
            <a:endParaRPr lang="pt-BR" noProof="0" dirty="0">
              <a:latin typeface="Montserrat" pitchFamily="2" charset="77"/>
            </a:endParaRPr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5BAFFE8B-7384-0EA3-0A81-BCACDB55D6A9}"/>
              </a:ext>
            </a:extLst>
          </p:cNvPr>
          <p:cNvSpPr/>
          <p:nvPr/>
        </p:nvSpPr>
        <p:spPr>
          <a:xfrm>
            <a:off x="1948180" y="3537697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C8D44CA-3973-9D77-A53E-65777644C494}"/>
              </a:ext>
            </a:extLst>
          </p:cNvPr>
          <p:cNvSpPr/>
          <p:nvPr/>
        </p:nvSpPr>
        <p:spPr>
          <a:xfrm>
            <a:off x="1948180" y="35376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!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35BC393D-5DC8-AC92-473F-32D98A39576F}"/>
              </a:ext>
            </a:extLst>
          </p:cNvPr>
          <p:cNvSpPr/>
          <p:nvPr/>
        </p:nvSpPr>
        <p:spPr>
          <a:xfrm>
            <a:off x="2423668" y="3574273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kern="0" spc="60" noProof="0" dirty="0">
                <a:solidFill>
                  <a:srgbClr val="B45309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DESISTÊNCIA IMOTIVADA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3488028F-6625-836A-1FE8-D86C97A56FD4}"/>
              </a:ext>
            </a:extLst>
          </p:cNvPr>
          <p:cNvSpPr/>
          <p:nvPr/>
        </p:nvSpPr>
        <p:spPr>
          <a:xfrm>
            <a:off x="1948180" y="3921745"/>
            <a:ext cx="5031486" cy="85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9.1. Em caso de desistência imotivada por iniciativa do(a) Paciente, de uma, algumas ou todas as terapias contratadas, após o início do acompanhamento, serão devidos e cobrados os valores dos serviços já disponibilizados e/ou utilizados em cada uma das áreas.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79E1794-61D7-2FEC-2625-ED1344750012}"/>
              </a:ext>
            </a:extLst>
          </p:cNvPr>
          <p:cNvSpPr/>
          <p:nvPr/>
        </p:nvSpPr>
        <p:spPr>
          <a:xfrm>
            <a:off x="1765300" y="5042134"/>
            <a:ext cx="5256213" cy="151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9.2. A interrupção voluntária do tratamento ou a insatisfação subjetiva quanto aos resultados não afastam as obrigações financeiras assumidas.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9.3. Em caso de abandono terapêutico pelo(a) Paciente de uma ou algumas terapias deste contrato, a Clínica poderá considerar rescindido o presente contrato no tocante às terapias abandonadas, permanecendo exigíveis os valores contratualmente ajustados das sessões realizadas e/ou disponibilizadas.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8C9F67DC-4ADF-CF73-D8BB-E995D2D33E0A}"/>
              </a:ext>
            </a:extLst>
          </p:cNvPr>
          <p:cNvSpPr/>
          <p:nvPr/>
        </p:nvSpPr>
        <p:spPr>
          <a:xfrm>
            <a:off x="1765299" y="7063367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noProof="0" dirty="0">
              <a:latin typeface="Montserrat" pitchFamily="2" charset="77"/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39306CA-AEB4-340D-9240-BB6406E0AB83}"/>
              </a:ext>
            </a:extLst>
          </p:cNvPr>
          <p:cNvSpPr/>
          <p:nvPr/>
        </p:nvSpPr>
        <p:spPr>
          <a:xfrm>
            <a:off x="1765299" y="706336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400" noProof="0" dirty="0">
              <a:latin typeface="Montserrat" pitchFamily="2" charset="77"/>
            </a:endParaRPr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F704D2CE-DFC8-2274-E333-E3A6264629C5}"/>
              </a:ext>
            </a:extLst>
          </p:cNvPr>
          <p:cNvSpPr/>
          <p:nvPr/>
        </p:nvSpPr>
        <p:spPr>
          <a:xfrm>
            <a:off x="2387091" y="7063367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9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de Dados</a:t>
            </a:r>
            <a:endParaRPr lang="pt-BR" sz="1900" noProof="0" dirty="0">
              <a:latin typeface="Montserrat" pitchFamily="2" charset="77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15DB1AEA-CE9D-C534-D478-0AF3D3194E71}"/>
              </a:ext>
            </a:extLst>
          </p:cNvPr>
          <p:cNvSpPr/>
          <p:nvPr/>
        </p:nvSpPr>
        <p:spPr>
          <a:xfrm>
            <a:off x="1765298" y="7637693"/>
            <a:ext cx="5256214" cy="1817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10.1. As partes se comprometem a manter a confidencialidade das informações recebidas e do material confidencial, em estrita conformidade com as leis aplicáveis.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10.2. O Contratante concorda que, por ocasião deste contrato, seus dados pessoais e sensíveis sejam tratados para a finalidade específica ora proposta, em conformidade com a Lei Geral de Proteção de Dados.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10.3. A conservação desses dados será feita pelo prazo legalmente previsto (tempo de guarda de prontuário do(a) Paciente).</a:t>
            </a:r>
            <a:endParaRPr lang="pt-BR" sz="1100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59C984F6-402A-0757-926F-70B4BBA90866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D4AEFF4A-4E95-7A5F-2D80-527B5B6A0ABC}"/>
              </a:ext>
            </a:extLst>
          </p:cNvPr>
          <p:cNvSpPr/>
          <p:nvPr/>
        </p:nvSpPr>
        <p:spPr>
          <a:xfrm>
            <a:off x="0" y="1"/>
            <a:ext cx="1343814" cy="10688638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7" name="Image 0" descr="/tmp/vm/img/logo_color.png">
            <a:extLst>
              <a:ext uri="{FF2B5EF4-FFF2-40B4-BE49-F238E27FC236}">
                <a16:creationId xmlns:a16="http://schemas.microsoft.com/office/drawing/2014/main" id="{5006C7EF-FCCA-9BAF-39E2-01E65DBB0C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58" name="Shape 1">
            <a:extLst>
              <a:ext uri="{FF2B5EF4-FFF2-40B4-BE49-F238E27FC236}">
                <a16:creationId xmlns:a16="http://schemas.microsoft.com/office/drawing/2014/main" id="{78264F3A-DF28-D824-816E-E7501D7860CF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49A92578-4748-EB5C-CFB6-C685EDF7392F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08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E1FBF446-3AB3-142E-493B-132CC30BB44E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A2CC7611-2727-EDC5-3D38-055E52B13A99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5C771F89-6C9F-0E88-B68E-0AE08904458E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344A8960-6150-F24F-AAA4-1970AC0AB03B}"/>
              </a:ext>
            </a:extLst>
          </p:cNvPr>
          <p:cNvSpPr/>
          <p:nvPr/>
        </p:nvSpPr>
        <p:spPr>
          <a:xfrm>
            <a:off x="512766" y="30221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73969221-156B-8F57-0962-B2E58AFFB9C9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49059F3F-946B-A501-2012-384548B7B30C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FD1F2176-A4A3-8F38-0A3C-44855E6A2DDB}"/>
              </a:ext>
            </a:extLst>
          </p:cNvPr>
          <p:cNvSpPr/>
          <p:nvPr/>
        </p:nvSpPr>
        <p:spPr>
          <a:xfrm>
            <a:off x="512766" y="357872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6868E5E1-1303-EDEB-DFA6-2DC1C4C08184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79A6A768-CB10-7FB3-9BF5-4955504FBA47}"/>
              </a:ext>
            </a:extLst>
          </p:cNvPr>
          <p:cNvSpPr/>
          <p:nvPr/>
        </p:nvSpPr>
        <p:spPr>
          <a:xfrm>
            <a:off x="137160" y="7094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7ED07404-7975-88BB-5134-4568B1B980C4}"/>
              </a:ext>
            </a:extLst>
          </p:cNvPr>
          <p:cNvSpPr/>
          <p:nvPr/>
        </p:nvSpPr>
        <p:spPr>
          <a:xfrm>
            <a:off x="512766" y="6975253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 Gerais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6" name="Shape 36">
            <a:extLst>
              <a:ext uri="{FF2B5EF4-FFF2-40B4-BE49-F238E27FC236}">
                <a16:creationId xmlns:a16="http://schemas.microsoft.com/office/drawing/2014/main" id="{667520F2-FBA0-0CE6-D953-ABE1F713858B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2987A3C8-1064-82B6-B9E0-5012B90D3BC9}"/>
              </a:ext>
            </a:extLst>
          </p:cNvPr>
          <p:cNvSpPr/>
          <p:nvPr/>
        </p:nvSpPr>
        <p:spPr>
          <a:xfrm>
            <a:off x="137160" y="7650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8" name="Text 38">
            <a:extLst>
              <a:ext uri="{FF2B5EF4-FFF2-40B4-BE49-F238E27FC236}">
                <a16:creationId xmlns:a16="http://schemas.microsoft.com/office/drawing/2014/main" id="{BA431A07-64D6-EAB1-9054-D883F8D7DDC6}"/>
              </a:ext>
            </a:extLst>
          </p:cNvPr>
          <p:cNvSpPr/>
          <p:nvPr/>
        </p:nvSpPr>
        <p:spPr>
          <a:xfrm>
            <a:off x="512766" y="753186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65AEAEDF-7EE8-567B-01A7-2B09D21E807F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0" name="Text 10">
            <a:extLst>
              <a:ext uri="{FF2B5EF4-FFF2-40B4-BE49-F238E27FC236}">
                <a16:creationId xmlns:a16="http://schemas.microsoft.com/office/drawing/2014/main" id="{3710507B-5E34-1A6B-AD48-370F3EC58419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E25F707A-868B-AE4E-E32F-84D135E3F817}"/>
              </a:ext>
            </a:extLst>
          </p:cNvPr>
          <p:cNvSpPr/>
          <p:nvPr/>
        </p:nvSpPr>
        <p:spPr>
          <a:xfrm>
            <a:off x="512766" y="146006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2" name="Shape 12">
            <a:extLst>
              <a:ext uri="{FF2B5EF4-FFF2-40B4-BE49-F238E27FC236}">
                <a16:creationId xmlns:a16="http://schemas.microsoft.com/office/drawing/2014/main" id="{8D770161-BD8F-8C76-CB59-14E30CF19820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D9FEA6BF-8D88-3782-713B-5FEFC98D3B1E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C25097CB-DDC6-5577-A879-07833C19F6CC}"/>
              </a:ext>
            </a:extLst>
          </p:cNvPr>
          <p:cNvSpPr/>
          <p:nvPr/>
        </p:nvSpPr>
        <p:spPr>
          <a:xfrm>
            <a:off x="512766" y="19557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5" name="Shape 2">
            <a:extLst>
              <a:ext uri="{FF2B5EF4-FFF2-40B4-BE49-F238E27FC236}">
                <a16:creationId xmlns:a16="http://schemas.microsoft.com/office/drawing/2014/main" id="{26909412-63CF-A40C-6F9D-E721B06DD284}"/>
              </a:ext>
            </a:extLst>
          </p:cNvPr>
          <p:cNvSpPr/>
          <p:nvPr/>
        </p:nvSpPr>
        <p:spPr>
          <a:xfrm>
            <a:off x="137160" y="5768642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6" name="Shape 3">
            <a:extLst>
              <a:ext uri="{FF2B5EF4-FFF2-40B4-BE49-F238E27FC236}">
                <a16:creationId xmlns:a16="http://schemas.microsoft.com/office/drawing/2014/main" id="{1FA1D789-33AE-3DAD-E96E-41E5D3570D24}"/>
              </a:ext>
            </a:extLst>
          </p:cNvPr>
          <p:cNvSpPr/>
          <p:nvPr/>
        </p:nvSpPr>
        <p:spPr>
          <a:xfrm>
            <a:off x="221169" y="5889455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7" name="Text 4">
            <a:extLst>
              <a:ext uri="{FF2B5EF4-FFF2-40B4-BE49-F238E27FC236}">
                <a16:creationId xmlns:a16="http://schemas.microsoft.com/office/drawing/2014/main" id="{C4AC41CE-09BE-3C99-093C-2B7BAEEF2A0E}"/>
              </a:ext>
            </a:extLst>
          </p:cNvPr>
          <p:cNvSpPr/>
          <p:nvPr/>
        </p:nvSpPr>
        <p:spPr>
          <a:xfrm>
            <a:off x="221169" y="58894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88" name="Text 5">
            <a:extLst>
              <a:ext uri="{FF2B5EF4-FFF2-40B4-BE49-F238E27FC236}">
                <a16:creationId xmlns:a16="http://schemas.microsoft.com/office/drawing/2014/main" id="{A60C351B-63CD-BE48-7A4E-AD1AEB06B1DA}"/>
              </a:ext>
            </a:extLst>
          </p:cNvPr>
          <p:cNvSpPr/>
          <p:nvPr/>
        </p:nvSpPr>
        <p:spPr>
          <a:xfrm>
            <a:off x="660081" y="5770583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9D6ED36A-D662-C29D-1428-9A486D719B32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B8FF3036-41E2-DCD3-371D-118BD01158F6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1" name="Text 17">
            <a:extLst>
              <a:ext uri="{FF2B5EF4-FFF2-40B4-BE49-F238E27FC236}">
                <a16:creationId xmlns:a16="http://schemas.microsoft.com/office/drawing/2014/main" id="{E02308F7-ED60-A7A3-B4BE-6BE5F8AE9767}"/>
              </a:ext>
            </a:extLst>
          </p:cNvPr>
          <p:cNvSpPr/>
          <p:nvPr/>
        </p:nvSpPr>
        <p:spPr>
          <a:xfrm>
            <a:off x="512766" y="24273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2" name="Shape 2">
            <a:extLst>
              <a:ext uri="{FF2B5EF4-FFF2-40B4-BE49-F238E27FC236}">
                <a16:creationId xmlns:a16="http://schemas.microsoft.com/office/drawing/2014/main" id="{6DB914DE-144C-98D8-9950-57E5F9EF3B5F}"/>
              </a:ext>
            </a:extLst>
          </p:cNvPr>
          <p:cNvSpPr/>
          <p:nvPr/>
        </p:nvSpPr>
        <p:spPr>
          <a:xfrm>
            <a:off x="137160" y="6391836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3" name="Shape 3">
            <a:extLst>
              <a:ext uri="{FF2B5EF4-FFF2-40B4-BE49-F238E27FC236}">
                <a16:creationId xmlns:a16="http://schemas.microsoft.com/office/drawing/2014/main" id="{397FD5AA-AAD7-6DAB-7F9A-E98F1F6738F4}"/>
              </a:ext>
            </a:extLst>
          </p:cNvPr>
          <p:cNvSpPr/>
          <p:nvPr/>
        </p:nvSpPr>
        <p:spPr>
          <a:xfrm>
            <a:off x="221169" y="6512649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CF9D52BE-D879-DD1F-0469-C0BFB0C4587C}"/>
              </a:ext>
            </a:extLst>
          </p:cNvPr>
          <p:cNvSpPr/>
          <p:nvPr/>
        </p:nvSpPr>
        <p:spPr>
          <a:xfrm>
            <a:off x="221169" y="65126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cs typeface="Calibri" pitchFamily="34" charset="-120"/>
              </a:rPr>
              <a:t>10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4D9FA793-BBB1-2477-E69B-E65BD4307B2C}"/>
              </a:ext>
            </a:extLst>
          </p:cNvPr>
          <p:cNvSpPr/>
          <p:nvPr/>
        </p:nvSpPr>
        <p:spPr>
          <a:xfrm>
            <a:off x="660081" y="6393777"/>
            <a:ext cx="748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de Dados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105CFBDA-6907-4667-DE43-3F04CD0B0E02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E44A74A5-C9F2-01B3-A964-7DD8486CC875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7D0A91F3-3C64-FF58-C179-94F5FC764F17}"/>
              </a:ext>
            </a:extLst>
          </p:cNvPr>
          <p:cNvSpPr/>
          <p:nvPr/>
        </p:nvSpPr>
        <p:spPr>
          <a:xfrm>
            <a:off x="512766" y="412992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BBEA7C87-9D55-49C4-C1D7-253E09CA22BC}"/>
              </a:ext>
            </a:extLst>
          </p:cNvPr>
          <p:cNvSpPr/>
          <p:nvPr/>
        </p:nvSpPr>
        <p:spPr>
          <a:xfrm>
            <a:off x="137160" y="474151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0" name="Text 22">
            <a:extLst>
              <a:ext uri="{FF2B5EF4-FFF2-40B4-BE49-F238E27FC236}">
                <a16:creationId xmlns:a16="http://schemas.microsoft.com/office/drawing/2014/main" id="{F7744F0A-6F9F-4EEA-D59F-B44951078879}"/>
              </a:ext>
            </a:extLst>
          </p:cNvPr>
          <p:cNvSpPr/>
          <p:nvPr/>
        </p:nvSpPr>
        <p:spPr>
          <a:xfrm>
            <a:off x="137160" y="47415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2E2B6E8D-5F02-5915-5A33-3C46725AAFDD}"/>
              </a:ext>
            </a:extLst>
          </p:cNvPr>
          <p:cNvSpPr/>
          <p:nvPr/>
        </p:nvSpPr>
        <p:spPr>
          <a:xfrm>
            <a:off x="512766" y="462264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02" name="Shape 24">
            <a:extLst>
              <a:ext uri="{FF2B5EF4-FFF2-40B4-BE49-F238E27FC236}">
                <a16:creationId xmlns:a16="http://schemas.microsoft.com/office/drawing/2014/main" id="{5B8BF2D3-6EED-851D-22C1-B7C728420AB9}"/>
              </a:ext>
            </a:extLst>
          </p:cNvPr>
          <p:cNvSpPr/>
          <p:nvPr/>
        </p:nvSpPr>
        <p:spPr>
          <a:xfrm>
            <a:off x="137160" y="5298129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3" name="Text 25">
            <a:extLst>
              <a:ext uri="{FF2B5EF4-FFF2-40B4-BE49-F238E27FC236}">
                <a16:creationId xmlns:a16="http://schemas.microsoft.com/office/drawing/2014/main" id="{FCB2494A-4E2B-61C9-3DD8-2C0EBBF42278}"/>
              </a:ext>
            </a:extLst>
          </p:cNvPr>
          <p:cNvSpPr/>
          <p:nvPr/>
        </p:nvSpPr>
        <p:spPr>
          <a:xfrm>
            <a:off x="137160" y="52981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4" name="Text 26">
            <a:extLst>
              <a:ext uri="{FF2B5EF4-FFF2-40B4-BE49-F238E27FC236}">
                <a16:creationId xmlns:a16="http://schemas.microsoft.com/office/drawing/2014/main" id="{ADEC5630-33E8-9967-3178-543BE084A389}"/>
              </a:ext>
            </a:extLst>
          </p:cNvPr>
          <p:cNvSpPr/>
          <p:nvPr/>
        </p:nvSpPr>
        <p:spPr>
          <a:xfrm>
            <a:off x="512766" y="5179257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>
            <a:off x="1765300" y="987425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65300" y="98742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87092" y="987425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 Gerais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65299" y="1517907"/>
            <a:ext cx="5256213" cy="376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</a:t>
            </a: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.1. As partes acordam que redes sociais e aplicativos de mensagens (tais como WhatsApp, Facebook, Instagram, e-mail, dentre outros) do(a) profissional, de sua equipe ou de colaboradores não constituem meio oficial de comunicação, não sendo garantida a leitura imediata ou a prestação de atendimento por tais canais.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11.2. O Contratante declara que teve oportunidade de ler, discutir, compreender e sugerir alterações aos termos deste contrato, tendo sanado as suas dúvidas, inclusive quanto à natureza da obrigação assumida, não se tratando, portanto, de contrato de adesão.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11.3. O Contratante autoriza, de forma livre, expressa e informada, a captação e utilização da imagem do(a) Paciente, por qualquer meio, exclusivamente para fins de estudo de caso, análise de resultados e divulgação institucional ou publicitária, desde que preservado o anonimato. O consentimento poderá ser revogado a qualquer tempo.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11.4. As partes reconhecem como válidas as manifestações de vontade realizadas por meio eletrônico, ainda que sem uso de certificado digital, sendo este instrumento plenamente eficaz e vinculante, nos termos do art. 10, § 2º, da Medida Provisória n.º 2.200-2/2001.</a:t>
            </a:r>
            <a:endParaRPr lang="pt-BR" sz="110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6E4593F0-608C-5B97-67DC-EF09C45F3D48}"/>
              </a:ext>
            </a:extLst>
          </p:cNvPr>
          <p:cNvSpPr/>
          <p:nvPr/>
        </p:nvSpPr>
        <p:spPr>
          <a:xfrm>
            <a:off x="1765300" y="561022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64CF7"/>
          </a:solidFill>
          <a:ln/>
        </p:spPr>
        <p:txBody>
          <a:bodyPr/>
          <a:lstStyle/>
          <a:p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978AC77-1254-93CE-3FFE-6970CD9A4E43}"/>
              </a:ext>
            </a:extLst>
          </p:cNvPr>
          <p:cNvSpPr/>
          <p:nvPr/>
        </p:nvSpPr>
        <p:spPr>
          <a:xfrm>
            <a:off x="1765300" y="56102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12</a:t>
            </a:r>
            <a:endParaRPr lang="pt-BR" sz="1100" noProof="0" dirty="0">
              <a:latin typeface="Montserrat" pitchFamily="2" charset="77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191A43E-8413-1C32-21C9-F5E7300C4397}"/>
              </a:ext>
            </a:extLst>
          </p:cNvPr>
          <p:cNvSpPr/>
          <p:nvPr/>
        </p:nvSpPr>
        <p:spPr>
          <a:xfrm>
            <a:off x="2387092" y="5610226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Assinaturas</a:t>
            </a:r>
            <a:endParaRPr lang="pt-BR" sz="1600" noProof="0" dirty="0">
              <a:latin typeface="Montserrat" pitchFamily="2" charset="77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8820893-31AE-8FF0-DEC4-7D113A2E72E8}"/>
              </a:ext>
            </a:extLst>
          </p:cNvPr>
          <p:cNvSpPr/>
          <p:nvPr/>
        </p:nvSpPr>
        <p:spPr>
          <a:xfrm>
            <a:off x="1765299" y="6179830"/>
            <a:ext cx="5256213" cy="162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 partes elegem o Foro da Comarca de Belém/PA como competente para dirimir quaisquer controvérsias oriundas deste contrato, com renúncia expressa a qualquer outro, por mais privilegiado que seja.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E, por estarem justas e contratadas, as partes firmam o presente contrato, para que produza seus efeitos legais e jurídicos, na presença de duas testemunhas.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Belém/PA, 01 de outubro de 2026.</a:t>
            </a:r>
            <a:endParaRPr lang="pt-BR" sz="110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48E8CEE6-AE3C-A2A4-BD5D-0ACAFA9A144B}"/>
              </a:ext>
            </a:extLst>
          </p:cNvPr>
          <p:cNvSpPr/>
          <p:nvPr/>
        </p:nvSpPr>
        <p:spPr>
          <a:xfrm>
            <a:off x="1765299" y="8271271"/>
            <a:ext cx="2378530" cy="0"/>
          </a:xfrm>
          <a:prstGeom prst="line">
            <a:avLst/>
          </a:prstGeom>
          <a:noFill/>
          <a:ln w="12700">
            <a:solidFill>
              <a:srgbClr val="022E4B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1E08A13F-DC11-B2E8-0383-AC12F5DF208B}"/>
              </a:ext>
            </a:extLst>
          </p:cNvPr>
          <p:cNvSpPr/>
          <p:nvPr/>
        </p:nvSpPr>
        <p:spPr>
          <a:xfrm>
            <a:off x="1765299" y="8326135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 | Representante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780CC51E-FBAE-2E7E-3CD7-F5056011BC42}"/>
              </a:ext>
            </a:extLst>
          </p:cNvPr>
          <p:cNvSpPr/>
          <p:nvPr/>
        </p:nvSpPr>
        <p:spPr>
          <a:xfrm>
            <a:off x="1765299" y="8563879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CPF: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1DA34600-D1DD-8C70-5881-5AFF14EF9ADA}"/>
              </a:ext>
            </a:extLst>
          </p:cNvPr>
          <p:cNvSpPr/>
          <p:nvPr/>
        </p:nvSpPr>
        <p:spPr>
          <a:xfrm>
            <a:off x="4460676" y="8271271"/>
            <a:ext cx="2560836" cy="0"/>
          </a:xfrm>
          <a:prstGeom prst="line">
            <a:avLst/>
          </a:prstGeom>
          <a:noFill/>
          <a:ln w="12700">
            <a:solidFill>
              <a:srgbClr val="022E4B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2A0828E-372D-D671-5ADA-F07A5935FC10}"/>
              </a:ext>
            </a:extLst>
          </p:cNvPr>
          <p:cNvSpPr/>
          <p:nvPr/>
        </p:nvSpPr>
        <p:spPr>
          <a:xfrm>
            <a:off x="4460676" y="8326135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Clínica Viva+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A6ADF297-4EEA-12EA-BD50-C6CD57A3B0F3}"/>
              </a:ext>
            </a:extLst>
          </p:cNvPr>
          <p:cNvSpPr/>
          <p:nvPr/>
        </p:nvSpPr>
        <p:spPr>
          <a:xfrm>
            <a:off x="4460676" y="8563879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Representante Legal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99BF0610-3AE7-C58B-7632-1471FB93FC3C}"/>
              </a:ext>
            </a:extLst>
          </p:cNvPr>
          <p:cNvSpPr/>
          <p:nvPr/>
        </p:nvSpPr>
        <p:spPr>
          <a:xfrm>
            <a:off x="1765299" y="9351406"/>
            <a:ext cx="2385787" cy="0"/>
          </a:xfrm>
          <a:prstGeom prst="line">
            <a:avLst/>
          </a:prstGeom>
          <a:noFill/>
          <a:ln w="12700">
            <a:solidFill>
              <a:srgbClr val="022E4B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B35199F7-0FA0-0F3E-CAA1-90F4101BC5F3}"/>
              </a:ext>
            </a:extLst>
          </p:cNvPr>
          <p:cNvSpPr/>
          <p:nvPr/>
        </p:nvSpPr>
        <p:spPr>
          <a:xfrm>
            <a:off x="1765299" y="9406270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Testemunha 1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896C97CE-B5AF-E2D3-3196-D14A31C26A3B}"/>
              </a:ext>
            </a:extLst>
          </p:cNvPr>
          <p:cNvSpPr/>
          <p:nvPr/>
        </p:nvSpPr>
        <p:spPr>
          <a:xfrm>
            <a:off x="1765299" y="9644014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Nome: | CPF: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D9E1693A-9F19-C661-7467-FBE4B641E4EF}"/>
              </a:ext>
            </a:extLst>
          </p:cNvPr>
          <p:cNvSpPr/>
          <p:nvPr/>
        </p:nvSpPr>
        <p:spPr>
          <a:xfrm>
            <a:off x="4460676" y="9351406"/>
            <a:ext cx="2560836" cy="0"/>
          </a:xfrm>
          <a:prstGeom prst="line">
            <a:avLst/>
          </a:prstGeom>
          <a:noFill/>
          <a:ln w="12700">
            <a:solidFill>
              <a:srgbClr val="022E4B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86882925-B779-090B-AD4B-DE4BE1F5A3B2}"/>
              </a:ext>
            </a:extLst>
          </p:cNvPr>
          <p:cNvSpPr/>
          <p:nvPr/>
        </p:nvSpPr>
        <p:spPr>
          <a:xfrm>
            <a:off x="4460676" y="9406270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b="1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Testemunha 2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2ABAE7EA-9B0F-8967-8BD0-56BCC583BB1A}"/>
              </a:ext>
            </a:extLst>
          </p:cNvPr>
          <p:cNvSpPr/>
          <p:nvPr/>
        </p:nvSpPr>
        <p:spPr>
          <a:xfrm>
            <a:off x="4460676" y="9644014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1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Nome: | CPF:</a:t>
            </a:r>
            <a:endParaRPr lang="pt-BR" sz="1100" noProof="0" dirty="0">
              <a:solidFill>
                <a:srgbClr val="022E4B"/>
              </a:solidFill>
              <a:latin typeface="Montserrat" pitchFamily="2" charset="77"/>
            </a:endParaRPr>
          </a:p>
        </p:txBody>
      </p:sp>
      <p:sp>
        <p:nvSpPr>
          <p:cNvPr id="59" name="Shape 0">
            <a:extLst>
              <a:ext uri="{FF2B5EF4-FFF2-40B4-BE49-F238E27FC236}">
                <a16:creationId xmlns:a16="http://schemas.microsoft.com/office/drawing/2014/main" id="{2C685C2F-3A24-9A60-062A-851B368CBB03}"/>
              </a:ext>
            </a:extLst>
          </p:cNvPr>
          <p:cNvSpPr/>
          <p:nvPr/>
        </p:nvSpPr>
        <p:spPr>
          <a:xfrm>
            <a:off x="0" y="1"/>
            <a:ext cx="1343814" cy="10688638"/>
          </a:xfrm>
          <a:prstGeom prst="rect">
            <a:avLst/>
          </a:prstGeom>
          <a:solidFill>
            <a:srgbClr val="022E4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0" name="Image 0" descr="/tmp/vm/img/logo_color.png">
            <a:extLst>
              <a:ext uri="{FF2B5EF4-FFF2-40B4-BE49-F238E27FC236}">
                <a16:creationId xmlns:a16="http://schemas.microsoft.com/office/drawing/2014/main" id="{10DC8DFA-F323-A5AB-F75A-8E8432BE8A0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853" y="429773"/>
            <a:ext cx="1068110" cy="420614"/>
          </a:xfrm>
          <a:prstGeom prst="rect">
            <a:avLst/>
          </a:prstGeom>
        </p:spPr>
      </p:pic>
      <p:sp>
        <p:nvSpPr>
          <p:cNvPr id="61" name="Shape 1">
            <a:extLst>
              <a:ext uri="{FF2B5EF4-FFF2-40B4-BE49-F238E27FC236}">
                <a16:creationId xmlns:a16="http://schemas.microsoft.com/office/drawing/2014/main" id="{3304A59B-8632-D8A2-2033-1A2FBF15F32E}"/>
              </a:ext>
            </a:extLst>
          </p:cNvPr>
          <p:cNvSpPr/>
          <p:nvPr/>
        </p:nvSpPr>
        <p:spPr>
          <a:xfrm>
            <a:off x="137853" y="964006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5BEF2C17-454F-C962-F62F-CA87497ECA2E}"/>
              </a:ext>
            </a:extLst>
          </p:cNvPr>
          <p:cNvSpPr/>
          <p:nvPr/>
        </p:nvSpPr>
        <p:spPr>
          <a:xfrm>
            <a:off x="137853" y="10152701"/>
            <a:ext cx="1068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EEFFE0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Página 09</a:t>
            </a:r>
            <a:endParaRPr lang="pt-BR" sz="900" noProof="0" dirty="0">
              <a:latin typeface="Montserrat" pitchFamily="2" charset="77"/>
            </a:endParaRPr>
          </a:p>
        </p:txBody>
      </p:sp>
      <p:sp>
        <p:nvSpPr>
          <p:cNvPr id="63" name="Shape 1">
            <a:extLst>
              <a:ext uri="{FF2B5EF4-FFF2-40B4-BE49-F238E27FC236}">
                <a16:creationId xmlns:a16="http://schemas.microsoft.com/office/drawing/2014/main" id="{3EF720E0-5BD8-4CDA-94AC-613E440E41C9}"/>
              </a:ext>
            </a:extLst>
          </p:cNvPr>
          <p:cNvSpPr/>
          <p:nvPr/>
        </p:nvSpPr>
        <p:spPr>
          <a:xfrm>
            <a:off x="137853" y="10095889"/>
            <a:ext cx="1068110" cy="2"/>
          </a:xfrm>
          <a:prstGeom prst="line">
            <a:avLst/>
          </a:prstGeom>
          <a:noFill/>
          <a:ln w="12700">
            <a:solidFill>
              <a:srgbClr val="0C3A5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5B20EA00-EF49-1D0E-34AD-F3B77FC61A8E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78464D02-E73E-163A-99A7-E49F2FF5A295}"/>
              </a:ext>
            </a:extLst>
          </p:cNvPr>
          <p:cNvSpPr/>
          <p:nvPr/>
        </p:nvSpPr>
        <p:spPr>
          <a:xfrm>
            <a:off x="137160" y="314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D89DB729-0A37-F1A1-3A5A-923BF764B4AF}"/>
              </a:ext>
            </a:extLst>
          </p:cNvPr>
          <p:cNvSpPr/>
          <p:nvPr/>
        </p:nvSpPr>
        <p:spPr>
          <a:xfrm>
            <a:off x="512766" y="30221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Clínica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6E0D1BD4-36FF-81BC-CB6B-BC6C7D55A9FD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1424DAA5-4B83-36EA-2D84-8FC26468DFE5}"/>
              </a:ext>
            </a:extLst>
          </p:cNvPr>
          <p:cNvSpPr/>
          <p:nvPr/>
        </p:nvSpPr>
        <p:spPr>
          <a:xfrm>
            <a:off x="137160" y="3697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E8F22E38-39B1-1E1B-59AD-9AC0FCF8F96F}"/>
              </a:ext>
            </a:extLst>
          </p:cNvPr>
          <p:cNvSpPr/>
          <p:nvPr/>
        </p:nvSpPr>
        <p:spPr>
          <a:xfrm>
            <a:off x="512766" y="3578724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Obrig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 da parte </a:t>
            </a:r>
            <a:r>
              <a:rPr lang="pt-BR" sz="9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Contratante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C0B6CDDB-25A3-1DC6-62D7-67A7ED3E0CE7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D6E9B9F9-92B5-AFC2-7496-48BC29EFEAFC}"/>
              </a:ext>
            </a:extLst>
          </p:cNvPr>
          <p:cNvSpPr/>
          <p:nvPr/>
        </p:nvSpPr>
        <p:spPr>
          <a:xfrm>
            <a:off x="137160" y="1578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01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4EF5D95B-27B5-64BC-0423-2E8E6A2C8E2F}"/>
              </a:ext>
            </a:extLst>
          </p:cNvPr>
          <p:cNvSpPr/>
          <p:nvPr/>
        </p:nvSpPr>
        <p:spPr>
          <a:xfrm>
            <a:off x="512766" y="1460060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Partes do contrato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79" name="Shape 12">
            <a:extLst>
              <a:ext uri="{FF2B5EF4-FFF2-40B4-BE49-F238E27FC236}">
                <a16:creationId xmlns:a16="http://schemas.microsoft.com/office/drawing/2014/main" id="{1B13A2FD-3DF2-E933-3689-A5CFC422C4CD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664E7CD7-BD88-AD72-0763-19EF2878CB99}"/>
              </a:ext>
            </a:extLst>
          </p:cNvPr>
          <p:cNvSpPr/>
          <p:nvPr/>
        </p:nvSpPr>
        <p:spPr>
          <a:xfrm>
            <a:off x="137160" y="2074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D6D49AF7-1612-4921-1D67-0F64DBD73A6B}"/>
              </a:ext>
            </a:extLst>
          </p:cNvPr>
          <p:cNvSpPr/>
          <p:nvPr/>
        </p:nvSpPr>
        <p:spPr>
          <a:xfrm>
            <a:off x="512766" y="19557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Objeto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2" name="Shape 2">
            <a:extLst>
              <a:ext uri="{FF2B5EF4-FFF2-40B4-BE49-F238E27FC236}">
                <a16:creationId xmlns:a16="http://schemas.microsoft.com/office/drawing/2014/main" id="{7F0329A3-0B7A-B1BF-4799-3011C2EA8644}"/>
              </a:ext>
            </a:extLst>
          </p:cNvPr>
          <p:cNvSpPr/>
          <p:nvPr/>
        </p:nvSpPr>
        <p:spPr>
          <a:xfrm>
            <a:off x="137160" y="6815772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DF934D15-F6F5-341E-7C01-EEB5ABB56111}"/>
              </a:ext>
            </a:extLst>
          </p:cNvPr>
          <p:cNvSpPr/>
          <p:nvPr/>
        </p:nvSpPr>
        <p:spPr>
          <a:xfrm>
            <a:off x="221169" y="6936585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7A1590FB-96F3-C69D-7CF8-FDA7EED65BF4}"/>
              </a:ext>
            </a:extLst>
          </p:cNvPr>
          <p:cNvSpPr/>
          <p:nvPr/>
        </p:nvSpPr>
        <p:spPr>
          <a:xfrm>
            <a:off x="221169" y="69365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6F6F6"/>
                </a:solidFill>
                <a:latin typeface="Montserrat" pitchFamily="2" charset="77"/>
                <a:cs typeface="Calibri" pitchFamily="34" charset="-120"/>
              </a:rPr>
              <a:t>11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85" name="Text 5">
            <a:extLst>
              <a:ext uri="{FF2B5EF4-FFF2-40B4-BE49-F238E27FC236}">
                <a16:creationId xmlns:a16="http://schemas.microsoft.com/office/drawing/2014/main" id="{7278C7CE-0D5A-A7A0-1192-12726705E3FA}"/>
              </a:ext>
            </a:extLst>
          </p:cNvPr>
          <p:cNvSpPr/>
          <p:nvPr/>
        </p:nvSpPr>
        <p:spPr>
          <a:xfrm>
            <a:off x="660081" y="6817713"/>
            <a:ext cx="811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Disposições gerais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6" name="Shape 15">
            <a:extLst>
              <a:ext uri="{FF2B5EF4-FFF2-40B4-BE49-F238E27FC236}">
                <a16:creationId xmlns:a16="http://schemas.microsoft.com/office/drawing/2014/main" id="{A1FB3757-7F76-8289-E4E7-79C7B3BA8447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7" name="Text 16">
            <a:extLst>
              <a:ext uri="{FF2B5EF4-FFF2-40B4-BE49-F238E27FC236}">
                <a16:creationId xmlns:a16="http://schemas.microsoft.com/office/drawing/2014/main" id="{3F386A08-B835-DF37-3534-4B9D5AAA24F3}"/>
              </a:ext>
            </a:extLst>
          </p:cNvPr>
          <p:cNvSpPr/>
          <p:nvPr/>
        </p:nvSpPr>
        <p:spPr>
          <a:xfrm>
            <a:off x="137160" y="2546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4BEE1F1F-BE1F-DEBE-D926-0298839C560E}"/>
              </a:ext>
            </a:extLst>
          </p:cNvPr>
          <p:cNvSpPr/>
          <p:nvPr/>
        </p:nvSpPr>
        <p:spPr>
          <a:xfrm>
            <a:off x="512766" y="2427312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Valor e formas de </a:t>
            </a:r>
            <a:r>
              <a:rPr lang="pt-BR" sz="1000" noProof="0" dirty="0" err="1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pagto</a:t>
            </a: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.</a:t>
            </a:r>
            <a:endParaRPr lang="pt-BR" sz="95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89" name="Shape 2">
            <a:extLst>
              <a:ext uri="{FF2B5EF4-FFF2-40B4-BE49-F238E27FC236}">
                <a16:creationId xmlns:a16="http://schemas.microsoft.com/office/drawing/2014/main" id="{5DB8C01B-F5F7-7204-36AF-8619723E62E9}"/>
              </a:ext>
            </a:extLst>
          </p:cNvPr>
          <p:cNvSpPr/>
          <p:nvPr/>
        </p:nvSpPr>
        <p:spPr>
          <a:xfrm>
            <a:off x="137160" y="7438966"/>
            <a:ext cx="1334671" cy="548640"/>
          </a:xfrm>
          <a:prstGeom prst="roundRect">
            <a:avLst>
              <a:gd name="adj" fmla="val 11667"/>
            </a:avLst>
          </a:prstGeom>
          <a:solidFill>
            <a:srgbClr val="0C3A5C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0" name="Shape 3">
            <a:extLst>
              <a:ext uri="{FF2B5EF4-FFF2-40B4-BE49-F238E27FC236}">
                <a16:creationId xmlns:a16="http://schemas.microsoft.com/office/drawing/2014/main" id="{80C85568-5BE7-AB4D-B27D-A67410FFCB88}"/>
              </a:ext>
            </a:extLst>
          </p:cNvPr>
          <p:cNvSpPr/>
          <p:nvPr/>
        </p:nvSpPr>
        <p:spPr>
          <a:xfrm>
            <a:off x="221169" y="7559779"/>
            <a:ext cx="310896" cy="310896"/>
          </a:xfrm>
          <a:prstGeom prst="ellipse">
            <a:avLst/>
          </a:prstGeom>
          <a:solidFill>
            <a:srgbClr val="164CF7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3019E036-10E7-ADE4-4C9D-0DECDAAAE1F7}"/>
              </a:ext>
            </a:extLst>
          </p:cNvPr>
          <p:cNvSpPr/>
          <p:nvPr/>
        </p:nvSpPr>
        <p:spPr>
          <a:xfrm>
            <a:off x="221169" y="7559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6F6F6"/>
                </a:solidFill>
                <a:latin typeface="Montserrat" pitchFamily="2" charset="77"/>
                <a:cs typeface="Calibri" pitchFamily="34" charset="-120"/>
              </a:rPr>
              <a:t>12</a:t>
            </a:r>
            <a:endParaRPr lang="pt-BR" sz="1000" noProof="0" dirty="0">
              <a:solidFill>
                <a:srgbClr val="F6F6F6"/>
              </a:solidFill>
              <a:latin typeface="Montserrat" pitchFamily="2" charset="77"/>
            </a:endParaRPr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27C70411-77D2-13CD-F8CD-05FD51409BBE}"/>
              </a:ext>
            </a:extLst>
          </p:cNvPr>
          <p:cNvSpPr/>
          <p:nvPr/>
        </p:nvSpPr>
        <p:spPr>
          <a:xfrm>
            <a:off x="660081" y="7440907"/>
            <a:ext cx="748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Foro e </a:t>
            </a:r>
            <a:r>
              <a:rPr lang="pt-BR" sz="9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Assinaturas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3" name="Shape 12">
            <a:extLst>
              <a:ext uri="{FF2B5EF4-FFF2-40B4-BE49-F238E27FC236}">
                <a16:creationId xmlns:a16="http://schemas.microsoft.com/office/drawing/2014/main" id="{BC06CDF4-C77D-D9E8-A2E6-D65E1E081732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4" name="Text 13">
            <a:extLst>
              <a:ext uri="{FF2B5EF4-FFF2-40B4-BE49-F238E27FC236}">
                <a16:creationId xmlns:a16="http://schemas.microsoft.com/office/drawing/2014/main" id="{3AAD4839-05E5-3116-8B86-F67C12DECDB3}"/>
              </a:ext>
            </a:extLst>
          </p:cNvPr>
          <p:cNvSpPr/>
          <p:nvPr/>
        </p:nvSpPr>
        <p:spPr>
          <a:xfrm>
            <a:off x="137160" y="42487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5" name="Text 14">
            <a:extLst>
              <a:ext uri="{FF2B5EF4-FFF2-40B4-BE49-F238E27FC236}">
                <a16:creationId xmlns:a16="http://schemas.microsoft.com/office/drawing/2014/main" id="{29140CF1-1D24-A5B5-7509-5A23BB3F881A}"/>
              </a:ext>
            </a:extLst>
          </p:cNvPr>
          <p:cNvSpPr/>
          <p:nvPr/>
        </p:nvSpPr>
        <p:spPr>
          <a:xfrm>
            <a:off x="512766" y="412992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Agenda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6" name="Shape 21">
            <a:extLst>
              <a:ext uri="{FF2B5EF4-FFF2-40B4-BE49-F238E27FC236}">
                <a16:creationId xmlns:a16="http://schemas.microsoft.com/office/drawing/2014/main" id="{5671DB43-05FE-F03B-6D66-681A77AB9038}"/>
              </a:ext>
            </a:extLst>
          </p:cNvPr>
          <p:cNvSpPr/>
          <p:nvPr/>
        </p:nvSpPr>
        <p:spPr>
          <a:xfrm>
            <a:off x="137160" y="474151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7" name="Text 22">
            <a:extLst>
              <a:ext uri="{FF2B5EF4-FFF2-40B4-BE49-F238E27FC236}">
                <a16:creationId xmlns:a16="http://schemas.microsoft.com/office/drawing/2014/main" id="{FB157E92-2C01-3226-16FA-767F0B7275BC}"/>
              </a:ext>
            </a:extLst>
          </p:cNvPr>
          <p:cNvSpPr/>
          <p:nvPr/>
        </p:nvSpPr>
        <p:spPr>
          <a:xfrm>
            <a:off x="137160" y="47415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98" name="Text 23">
            <a:extLst>
              <a:ext uri="{FF2B5EF4-FFF2-40B4-BE49-F238E27FC236}">
                <a16:creationId xmlns:a16="http://schemas.microsoft.com/office/drawing/2014/main" id="{D8EE0E27-B9E3-7E9C-CC95-5679BC3AA225}"/>
              </a:ext>
            </a:extLst>
          </p:cNvPr>
          <p:cNvSpPr/>
          <p:nvPr/>
        </p:nvSpPr>
        <p:spPr>
          <a:xfrm>
            <a:off x="512766" y="462264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Sigilo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99" name="Shape 24">
            <a:extLst>
              <a:ext uri="{FF2B5EF4-FFF2-40B4-BE49-F238E27FC236}">
                <a16:creationId xmlns:a16="http://schemas.microsoft.com/office/drawing/2014/main" id="{3ACEFE96-58B4-E188-BA50-D5EE2359F9E0}"/>
              </a:ext>
            </a:extLst>
          </p:cNvPr>
          <p:cNvSpPr/>
          <p:nvPr/>
        </p:nvSpPr>
        <p:spPr>
          <a:xfrm>
            <a:off x="137160" y="5298129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0" name="Text 25">
            <a:extLst>
              <a:ext uri="{FF2B5EF4-FFF2-40B4-BE49-F238E27FC236}">
                <a16:creationId xmlns:a16="http://schemas.microsoft.com/office/drawing/2014/main" id="{1D9F4AF4-46E4-71CC-D4DF-9664EDB562C8}"/>
              </a:ext>
            </a:extLst>
          </p:cNvPr>
          <p:cNvSpPr/>
          <p:nvPr/>
        </p:nvSpPr>
        <p:spPr>
          <a:xfrm>
            <a:off x="137160" y="52981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B400D048-BA4D-25B5-9911-8C609803C6E0}"/>
              </a:ext>
            </a:extLst>
          </p:cNvPr>
          <p:cNvSpPr/>
          <p:nvPr/>
        </p:nvSpPr>
        <p:spPr>
          <a:xfrm>
            <a:off x="512766" y="5179257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Vigência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3FDD2BE5-CB49-9004-72DF-EB477EDEE8A1}"/>
              </a:ext>
            </a:extLst>
          </p:cNvPr>
          <p:cNvSpPr/>
          <p:nvPr/>
        </p:nvSpPr>
        <p:spPr>
          <a:xfrm>
            <a:off x="137160" y="5827917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3" name="Text 28">
            <a:extLst>
              <a:ext uri="{FF2B5EF4-FFF2-40B4-BE49-F238E27FC236}">
                <a16:creationId xmlns:a16="http://schemas.microsoft.com/office/drawing/2014/main" id="{86106D79-1E7D-1972-D8B8-D018A56845B9}"/>
              </a:ext>
            </a:extLst>
          </p:cNvPr>
          <p:cNvSpPr/>
          <p:nvPr/>
        </p:nvSpPr>
        <p:spPr>
          <a:xfrm>
            <a:off x="137160" y="58279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4" name="Text 29">
            <a:extLst>
              <a:ext uri="{FF2B5EF4-FFF2-40B4-BE49-F238E27FC236}">
                <a16:creationId xmlns:a16="http://schemas.microsoft.com/office/drawing/2014/main" id="{B546C490-E61E-F847-5966-876AB3A3D034}"/>
              </a:ext>
            </a:extLst>
          </p:cNvPr>
          <p:cNvSpPr/>
          <p:nvPr/>
        </p:nvSpPr>
        <p:spPr>
          <a:xfrm>
            <a:off x="512766" y="5709045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Cancelar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05" name="Shape 30">
            <a:extLst>
              <a:ext uri="{FF2B5EF4-FFF2-40B4-BE49-F238E27FC236}">
                <a16:creationId xmlns:a16="http://schemas.microsoft.com/office/drawing/2014/main" id="{61FF57AA-62B6-820A-CBE8-39163E9F2137}"/>
              </a:ext>
            </a:extLst>
          </p:cNvPr>
          <p:cNvSpPr/>
          <p:nvPr/>
        </p:nvSpPr>
        <p:spPr>
          <a:xfrm>
            <a:off x="137160" y="6384529"/>
            <a:ext cx="310896" cy="310896"/>
          </a:xfrm>
          <a:prstGeom prst="ellipse">
            <a:avLst/>
          </a:prstGeom>
          <a:solidFill>
            <a:srgbClr val="11456B"/>
          </a:solidFill>
          <a:ln/>
        </p:spPr>
        <p:txBody>
          <a:bodyPr/>
          <a:lstStyle/>
          <a:p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6" name="Text 31">
            <a:extLst>
              <a:ext uri="{FF2B5EF4-FFF2-40B4-BE49-F238E27FC236}">
                <a16:creationId xmlns:a16="http://schemas.microsoft.com/office/drawing/2014/main" id="{0FA4824A-1D72-1A7F-3441-713F0B434E16}"/>
              </a:ext>
            </a:extLst>
          </p:cNvPr>
          <p:cNvSpPr/>
          <p:nvPr/>
        </p:nvSpPr>
        <p:spPr>
          <a:xfrm>
            <a:off x="137160" y="63845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>
              <a:latin typeface="Montserrat" pitchFamily="2" charset="77"/>
            </a:endParaRPr>
          </a:p>
        </p:txBody>
      </p:sp>
      <p:sp>
        <p:nvSpPr>
          <p:cNvPr id="107" name="Text 32">
            <a:extLst>
              <a:ext uri="{FF2B5EF4-FFF2-40B4-BE49-F238E27FC236}">
                <a16:creationId xmlns:a16="http://schemas.microsoft.com/office/drawing/2014/main" id="{2D0376C1-BB6D-3831-4442-050898059003}"/>
              </a:ext>
            </a:extLst>
          </p:cNvPr>
          <p:cNvSpPr/>
          <p:nvPr/>
        </p:nvSpPr>
        <p:spPr>
          <a:xfrm>
            <a:off x="512766" y="6265657"/>
            <a:ext cx="774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Proteção </a:t>
            </a:r>
          </a:p>
          <a:p>
            <a:pPr marL="0" indent="0">
              <a:buNone/>
            </a:pPr>
            <a:r>
              <a:rPr lang="pt-BR" sz="1000" noProof="0" dirty="0">
                <a:solidFill>
                  <a:srgbClr val="14527F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de Dados</a:t>
            </a:r>
            <a:endParaRPr lang="pt-BR" sz="1000" noProof="0" dirty="0">
              <a:solidFill>
                <a:srgbClr val="14527F"/>
              </a:solidFill>
              <a:latin typeface="Montserrat" pitchFamily="2" charset="77"/>
            </a:endParaRPr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1217E98A-C4EF-81BE-85A6-93586CEB24F2}"/>
              </a:ext>
            </a:extLst>
          </p:cNvPr>
          <p:cNvSpPr/>
          <p:nvPr/>
        </p:nvSpPr>
        <p:spPr>
          <a:xfrm>
            <a:off x="1765299" y="10160628"/>
            <a:ext cx="4142233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cuidado · </a:t>
            </a:r>
          </a:p>
          <a:p>
            <a:r>
              <a:rPr lang="pt-BR" sz="800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presença · </a:t>
            </a:r>
            <a:r>
              <a:rPr lang="pt-BR" sz="800" b="1" noProof="0" dirty="0">
                <a:solidFill>
                  <a:srgbClr val="01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Mais vida</a:t>
            </a:r>
            <a:endParaRPr lang="pt-BR" sz="800" b="1" noProof="0" dirty="0">
              <a:solidFill>
                <a:srgbClr val="012E4B"/>
              </a:solidFill>
              <a:latin typeface="Montserrat" pitchFamily="2" charset="77"/>
            </a:endParaRPr>
          </a:p>
        </p:txBody>
      </p:sp>
      <p:sp>
        <p:nvSpPr>
          <p:cNvPr id="109" name="Text 10">
            <a:extLst>
              <a:ext uri="{FF2B5EF4-FFF2-40B4-BE49-F238E27FC236}">
                <a16:creationId xmlns:a16="http://schemas.microsoft.com/office/drawing/2014/main" id="{CE203A37-5F51-D669-6DC1-2A5E07A131D4}"/>
              </a:ext>
            </a:extLst>
          </p:cNvPr>
          <p:cNvSpPr/>
          <p:nvPr/>
        </p:nvSpPr>
        <p:spPr>
          <a:xfrm>
            <a:off x="3148330" y="528203"/>
            <a:ext cx="3831336" cy="22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Contrato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pt-BR" sz="700" noProof="0" dirty="0">
                <a:solidFill>
                  <a:srgbClr val="022E4B"/>
                </a:solidFill>
                <a:latin typeface="Montserrat" pitchFamily="2" charset="77"/>
                <a:cs typeface="Calibri" pitchFamily="34" charset="-120"/>
              </a:rPr>
              <a:t>Acompanhamento Terapêutico</a:t>
            </a:r>
            <a:endParaRPr lang="pt-BR" sz="700" noProof="0" dirty="0">
              <a:latin typeface="Montserrat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2426</Words>
  <Application>Microsoft Macintosh PowerPoint</Application>
  <PresentationFormat>Personalizar</PresentationFormat>
  <Paragraphs>374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Brenda Cristo</cp:lastModifiedBy>
  <cp:revision>14</cp:revision>
  <dcterms:created xsi:type="dcterms:W3CDTF">2026-10-01T13:17:33Z</dcterms:created>
  <dcterms:modified xsi:type="dcterms:W3CDTF">2026-10-01T15:46:16Z</dcterms:modified>
</cp:coreProperties>
</file>